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ncement du projet d’études Bachelor 2 – IA &amp; Agriculture" id="{A64DAE4D-A988-4D41-AD04-31FF202DFA26}">
          <p14:sldIdLst>
            <p14:sldId id="2561"/>
          </p14:sldIdLst>
        </p14:section>
        <p14:section name="Présentation générale du projet d’études B2" id="{1DDE554B-78AC-4EDC-B060-C0EF24B9037D}">
          <p14:sldIdLst>
            <p14:sldId id="2562"/>
            <p14:sldId id="2563"/>
          </p14:sldIdLst>
        </p14:section>
        <p14:section name="Objectifs pédagogiques et professionnels" id="{CC1925F1-9B3F-4701-BE58-DC702BEC3206}">
          <p14:sldIdLst>
            <p14:sldId id="2564"/>
            <p14:sldId id="2565"/>
          </p14:sldIdLst>
        </p14:section>
        <p14:section name="Thématique IA &amp; Agriculture" id="{265211CE-7BBE-4B49-8E0A-76D4BF1D664F}">
          <p14:sldIdLst>
            <p14:sldId id="2566"/>
            <p14:sldId id="2567"/>
          </p14:sldIdLst>
        </p14:section>
        <p14:section name="Exigences techniques globales" id="{2ED73C43-C071-40E9-BB5B-7260B8C3ACDE}">
          <p14:sldIdLst>
            <p14:sldId id="2568"/>
            <p14:sldId id="2569"/>
          </p14:sldIdLst>
        </p14:section>
        <p14:section name="Choix des technologies" id="{F4A683F3-5E32-44E7-AA50-59D605A6C01A}">
          <p14:sldIdLst>
            <p14:sldId id="2570"/>
            <p14:sldId id="2571"/>
          </p14:sldIdLst>
        </p14:section>
        <p14:section name="Fonctionnalités attendues" id="{D87A549F-EFA3-4B13-A88A-359667022762}">
          <p14:sldIdLst>
            <p14:sldId id="2572"/>
            <p14:sldId id="2573"/>
          </p14:sldIdLst>
        </p14:section>
        <p14:section name="Architecture technique" id="{A209F8EA-DBBB-4FA0-AECD-85EB5A3432F4}">
          <p14:sldIdLst>
            <p14:sldId id="2574"/>
            <p14:sldId id="2575"/>
          </p14:sldIdLst>
        </p14:section>
        <p14:section name="Déploiement et infrastructure" id="{A8792CEF-863E-45E9-BCDA-2CA5EF54CF1B}">
          <p14:sldIdLst>
            <p14:sldId id="2576"/>
            <p14:sldId id="2577"/>
          </p14:sldIdLst>
        </p14:section>
        <p14:section name="Livrables attendus" id="{31E7FA19-7338-4757-B0AC-354EE93D95ED}">
          <p14:sldIdLst>
            <p14:sldId id="2578"/>
            <p14:sldId id="2579"/>
          </p14:sldIdLst>
        </p14:section>
        <p14:section name="Critères d’évaluation" id="{8BB32F6B-435F-4690-9B49-8A4D3BD15C14}">
          <p14:sldIdLst>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71E762-0FF6-4B3C-A7FD-A0A194814E17}" v="2" dt="2026-04-08T14:39:47.6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ONIMOUTTOU Marie-Sidonie" userId="467de3ff-0f5f-4e56-99e8-c32feb852a15" providerId="ADAL" clId="{F3EB74C0-4EAC-4F6A-AA4C-7A67DD934D89}"/>
    <pc:docChg chg="modSld">
      <pc:chgData name="ANDONIMOUTTOU Marie-Sidonie" userId="467de3ff-0f5f-4e56-99e8-c32feb852a15" providerId="ADAL" clId="{F3EB74C0-4EAC-4F6A-AA4C-7A67DD934D89}" dt="2026-04-08T14:39:47.599" v="1" actId="20577"/>
      <pc:docMkLst>
        <pc:docMk/>
      </pc:docMkLst>
      <pc:sldChg chg="modSp">
        <pc:chgData name="ANDONIMOUTTOU Marie-Sidonie" userId="467de3ff-0f5f-4e56-99e8-c32feb852a15" providerId="ADAL" clId="{F3EB74C0-4EAC-4F6A-AA4C-7A67DD934D89}" dt="2026-04-08T14:39:47.599" v="1" actId="20577"/>
        <pc:sldMkLst>
          <pc:docMk/>
          <pc:sldMk cId="2664452301" sldId="2579"/>
        </pc:sldMkLst>
        <pc:spChg chg="mod">
          <ac:chgData name="ANDONIMOUTTOU Marie-Sidonie" userId="467de3ff-0f5f-4e56-99e8-c32feb852a15" providerId="ADAL" clId="{F3EB74C0-4EAC-4F6A-AA4C-7A67DD934D89}" dt="2026-04-08T14:39:47.599" v="1" actId="20577"/>
          <ac:spMkLst>
            <pc:docMk/>
            <pc:sldMk cId="2664452301" sldId="2579"/>
            <ac:spMk id="4" creationId="{5A90399C-CC1E-088E-7F98-74F76B7AE25C}"/>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FDC224-F50C-4C4F-B5F1-8C3462D6BFDF}"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D35355F8-90F2-4236-8160-B2CE519B4882}">
      <dgm:prSet/>
      <dgm:spPr/>
      <dgm:t>
        <a:bodyPr/>
        <a:lstStyle/>
        <a:p>
          <a:pPr>
            <a:lnSpc>
              <a:spcPct val="100000"/>
            </a:lnSpc>
            <a:defRPr b="1"/>
          </a:pPr>
          <a:r>
            <a:rPr lang="en-US"/>
            <a:t>Déploiement sur infrastructure cloud</a:t>
          </a:r>
        </a:p>
      </dgm:t>
    </dgm:pt>
    <dgm:pt modelId="{B4E1C166-3444-4E65-91D6-5512E267EA70}" type="parTrans" cxnId="{896F2D51-8668-4493-9300-3376B66D0BF5}">
      <dgm:prSet/>
      <dgm:spPr/>
      <dgm:t>
        <a:bodyPr/>
        <a:lstStyle/>
        <a:p>
          <a:endParaRPr lang="en-US"/>
        </a:p>
      </dgm:t>
    </dgm:pt>
    <dgm:pt modelId="{ACDB21F4-CB91-40C3-A014-CCCB6FE4E3AC}" type="sibTrans" cxnId="{896F2D51-8668-4493-9300-3376B66D0BF5}">
      <dgm:prSet/>
      <dgm:spPr/>
      <dgm:t>
        <a:bodyPr/>
        <a:lstStyle/>
        <a:p>
          <a:pPr>
            <a:lnSpc>
              <a:spcPct val="100000"/>
            </a:lnSpc>
            <a:defRPr b="1"/>
          </a:pPr>
          <a:endParaRPr lang="en-US"/>
        </a:p>
      </dgm:t>
    </dgm:pt>
    <dgm:pt modelId="{74576326-40B0-4741-B333-0265436DB07D}">
      <dgm:prSet/>
      <dgm:spPr/>
      <dgm:t>
        <a:bodyPr/>
        <a:lstStyle/>
        <a:p>
          <a:pPr>
            <a:lnSpc>
              <a:spcPct val="100000"/>
            </a:lnSpc>
          </a:pPr>
          <a:r>
            <a:rPr lang="en-US"/>
            <a:t>Le déploiement sur des plateformes cloud comme AWS, Azure ou VMware est essentiel pour héberger les applications.</a:t>
          </a:r>
        </a:p>
      </dgm:t>
    </dgm:pt>
    <dgm:pt modelId="{B827FA73-96ED-4BF0-B852-5AE6BAEE1900}" type="parTrans" cxnId="{E3A76BC3-BCDF-4488-BF01-44A490443A13}">
      <dgm:prSet/>
      <dgm:spPr/>
      <dgm:t>
        <a:bodyPr/>
        <a:lstStyle/>
        <a:p>
          <a:endParaRPr lang="en-US"/>
        </a:p>
      </dgm:t>
    </dgm:pt>
    <dgm:pt modelId="{2BD760CD-DD35-406B-986A-2B071DA5C8D7}" type="sibTrans" cxnId="{E3A76BC3-BCDF-4488-BF01-44A490443A13}">
      <dgm:prSet/>
      <dgm:spPr/>
      <dgm:t>
        <a:bodyPr/>
        <a:lstStyle/>
        <a:p>
          <a:endParaRPr lang="en-US"/>
        </a:p>
      </dgm:t>
    </dgm:pt>
    <dgm:pt modelId="{49E9A2EB-295B-48B3-B59B-DA193260BCBD}">
      <dgm:prSet/>
      <dgm:spPr/>
      <dgm:t>
        <a:bodyPr/>
        <a:lstStyle/>
        <a:p>
          <a:pPr>
            <a:lnSpc>
              <a:spcPct val="100000"/>
            </a:lnSpc>
            <a:defRPr b="1"/>
          </a:pPr>
          <a:r>
            <a:rPr lang="en-US"/>
            <a:t>Gestion des accès et environnements</a:t>
          </a:r>
        </a:p>
      </dgm:t>
    </dgm:pt>
    <dgm:pt modelId="{621ABB90-C1AD-4275-94E3-10F7BD070D8E}" type="parTrans" cxnId="{A8BE3CF0-BC50-47BD-8384-8429343106B3}">
      <dgm:prSet/>
      <dgm:spPr/>
      <dgm:t>
        <a:bodyPr/>
        <a:lstStyle/>
        <a:p>
          <a:endParaRPr lang="en-US"/>
        </a:p>
      </dgm:t>
    </dgm:pt>
    <dgm:pt modelId="{F34C5F15-3BCE-49D4-BA2E-4A72D5BF7FBD}" type="sibTrans" cxnId="{A8BE3CF0-BC50-47BD-8384-8429343106B3}">
      <dgm:prSet/>
      <dgm:spPr/>
      <dgm:t>
        <a:bodyPr/>
        <a:lstStyle/>
        <a:p>
          <a:pPr>
            <a:lnSpc>
              <a:spcPct val="100000"/>
            </a:lnSpc>
            <a:defRPr b="1"/>
          </a:pPr>
          <a:endParaRPr lang="en-US"/>
        </a:p>
      </dgm:t>
    </dgm:pt>
    <dgm:pt modelId="{FE6A8D8E-6A8E-4D78-A86B-37337F42DE79}">
      <dgm:prSet/>
      <dgm:spPr/>
      <dgm:t>
        <a:bodyPr/>
        <a:lstStyle/>
        <a:p>
          <a:pPr>
            <a:lnSpc>
              <a:spcPct val="100000"/>
            </a:lnSpc>
          </a:pPr>
          <a:r>
            <a:rPr lang="en-US"/>
            <a:t>Configurer les accès et gérer les environnements permet un fonctionnement stable et sécurisé de l’application.</a:t>
          </a:r>
        </a:p>
      </dgm:t>
    </dgm:pt>
    <dgm:pt modelId="{8BC1978D-1665-4262-ADF4-AA2EEA1B1D4D}" type="parTrans" cxnId="{325196C3-20ED-4EDD-98A7-E8D883DE07BC}">
      <dgm:prSet/>
      <dgm:spPr/>
      <dgm:t>
        <a:bodyPr/>
        <a:lstStyle/>
        <a:p>
          <a:endParaRPr lang="en-US"/>
        </a:p>
      </dgm:t>
    </dgm:pt>
    <dgm:pt modelId="{FBAE88D2-EB04-425C-80E2-EE165E178F5C}" type="sibTrans" cxnId="{325196C3-20ED-4EDD-98A7-E8D883DE07BC}">
      <dgm:prSet/>
      <dgm:spPr/>
      <dgm:t>
        <a:bodyPr/>
        <a:lstStyle/>
        <a:p>
          <a:endParaRPr lang="en-US"/>
        </a:p>
      </dgm:t>
    </dgm:pt>
    <dgm:pt modelId="{B85D9632-427C-4901-809C-62CAFF012653}">
      <dgm:prSet/>
      <dgm:spPr/>
      <dgm:t>
        <a:bodyPr/>
        <a:lstStyle/>
        <a:p>
          <a:pPr>
            <a:lnSpc>
              <a:spcPct val="100000"/>
            </a:lnSpc>
            <a:defRPr b="1"/>
          </a:pPr>
          <a:r>
            <a:rPr lang="en-US"/>
            <a:t>Sécurité et fiabilité</a:t>
          </a:r>
        </a:p>
      </dgm:t>
    </dgm:pt>
    <dgm:pt modelId="{4874BB40-4331-495A-B878-85FB899FE00E}" type="parTrans" cxnId="{E1C59F6D-4704-43B3-9C41-14EC39C0A0BF}">
      <dgm:prSet/>
      <dgm:spPr/>
      <dgm:t>
        <a:bodyPr/>
        <a:lstStyle/>
        <a:p>
          <a:endParaRPr lang="en-US"/>
        </a:p>
      </dgm:t>
    </dgm:pt>
    <dgm:pt modelId="{DDD08341-C2E8-4835-AA16-F240BFC3C128}" type="sibTrans" cxnId="{E1C59F6D-4704-43B3-9C41-14EC39C0A0BF}">
      <dgm:prSet/>
      <dgm:spPr/>
      <dgm:t>
        <a:bodyPr/>
        <a:lstStyle/>
        <a:p>
          <a:endParaRPr lang="en-US"/>
        </a:p>
      </dgm:t>
    </dgm:pt>
    <dgm:pt modelId="{C682357D-7B13-42FA-A1B2-74CFFA61C0D2}">
      <dgm:prSet/>
      <dgm:spPr/>
      <dgm:t>
        <a:bodyPr/>
        <a:lstStyle/>
        <a:p>
          <a:pPr>
            <a:lnSpc>
              <a:spcPct val="100000"/>
            </a:lnSpc>
          </a:pPr>
          <a:r>
            <a:rPr lang="en-US"/>
            <a:t>La sécurité, la protection des données et la fiabilité doivent être intégrées dans le processus de mise en production.</a:t>
          </a:r>
        </a:p>
      </dgm:t>
    </dgm:pt>
    <dgm:pt modelId="{BEA9F530-03D9-412F-B45F-2FABA286D8D8}" type="parTrans" cxnId="{579EB717-B845-414B-AA61-D779F40B8757}">
      <dgm:prSet/>
      <dgm:spPr/>
      <dgm:t>
        <a:bodyPr/>
        <a:lstStyle/>
        <a:p>
          <a:endParaRPr lang="en-US"/>
        </a:p>
      </dgm:t>
    </dgm:pt>
    <dgm:pt modelId="{02DF71AB-FF47-4380-8CDF-2AC48727F818}" type="sibTrans" cxnId="{579EB717-B845-414B-AA61-D779F40B8757}">
      <dgm:prSet/>
      <dgm:spPr/>
      <dgm:t>
        <a:bodyPr/>
        <a:lstStyle/>
        <a:p>
          <a:endParaRPr lang="en-US"/>
        </a:p>
      </dgm:t>
    </dgm:pt>
    <dgm:pt modelId="{4EEBED74-55BC-4CC5-B9F7-CFB2EBB9C9C5}" type="pres">
      <dgm:prSet presAssocID="{ABFDC224-F50C-4C4F-B5F1-8C3462D6BFDF}" presName="Root" presStyleCnt="0">
        <dgm:presLayoutVars>
          <dgm:dir/>
          <dgm:resizeHandles val="exact"/>
        </dgm:presLayoutVars>
      </dgm:prSet>
      <dgm:spPr/>
    </dgm:pt>
    <dgm:pt modelId="{66AB4F74-E143-45F2-BAD8-B657B0DA60E2}" type="pres">
      <dgm:prSet presAssocID="{D35355F8-90F2-4236-8160-B2CE519B4882}" presName="Composite" presStyleCnt="0"/>
      <dgm:spPr/>
    </dgm:pt>
    <dgm:pt modelId="{B35DEA08-8D61-4DDC-87F6-D93FE2BB8833}" type="pres">
      <dgm:prSet presAssocID="{D35355F8-90F2-4236-8160-B2CE519B4882}"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l="34714" r="8282" b="-7"/>
          <a:stretch/>
        </a:blipFill>
      </dgm:spPr>
      <dgm:extLst>
        <a:ext uri="{E40237B7-FDA0-4F09-8148-C483321AD2D9}">
          <dgm14:cNvPr xmlns:dgm14="http://schemas.microsoft.com/office/drawing/2010/diagram" id="0" name="" descr="Disque dur en forme de nuage avec câbles"/>
        </a:ext>
      </dgm:extLst>
    </dgm:pt>
    <dgm:pt modelId="{1D67604D-BD6A-4D8E-B883-F505A14192B5}" type="pres">
      <dgm:prSet presAssocID="{D35355F8-90F2-4236-8160-B2CE519B4882}" presName="Subtitle" presStyleLbl="revTx" presStyleIdx="0" presStyleCnt="6">
        <dgm:presLayoutVars>
          <dgm:chMax val="0"/>
          <dgm:bulletEnabled/>
        </dgm:presLayoutVars>
      </dgm:prSet>
      <dgm:spPr/>
    </dgm:pt>
    <dgm:pt modelId="{872D2636-A557-47FE-A9DD-5C5BEE1D2CCF}" type="pres">
      <dgm:prSet presAssocID="{D35355F8-90F2-4236-8160-B2CE519B4882}" presName="Description" presStyleLbl="revTx" presStyleIdx="1" presStyleCnt="6">
        <dgm:presLayoutVars>
          <dgm:bulletEnabled/>
        </dgm:presLayoutVars>
      </dgm:prSet>
      <dgm:spPr/>
    </dgm:pt>
    <dgm:pt modelId="{321CAB15-E805-459B-A8C5-16566F545B86}" type="pres">
      <dgm:prSet presAssocID="{ACDB21F4-CB91-40C3-A014-CCCB6FE4E3AC}" presName="sibTrans" presStyleLbl="sibTrans2D1" presStyleIdx="0" presStyleCnt="0"/>
      <dgm:spPr/>
    </dgm:pt>
    <dgm:pt modelId="{EB4D3DC4-769C-4D16-A9F6-308D0F37A595}" type="pres">
      <dgm:prSet presAssocID="{49E9A2EB-295B-48B3-B59B-DA193260BCBD}" presName="Composite" presStyleCnt="0"/>
      <dgm:spPr/>
    </dgm:pt>
    <dgm:pt modelId="{C5B0DA96-F3C2-4554-A86A-1706CE137FFB}" type="pres">
      <dgm:prSet presAssocID="{49E9A2EB-295B-48B3-B59B-DA193260BCBD}"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l="18873" r="14382" b="7"/>
          <a:stretch/>
        </a:blipFill>
      </dgm:spPr>
      <dgm:extLst>
        <a:ext uri="{E40237B7-FDA0-4F09-8148-C483321AD2D9}">
          <dgm14:cNvPr xmlns:dgm14="http://schemas.microsoft.com/office/drawing/2010/diagram" id="0" name="" descr="Homme d’affaires : connexion de sécurité réseau internet, informatique en nuage"/>
        </a:ext>
      </dgm:extLst>
    </dgm:pt>
    <dgm:pt modelId="{9722D8B6-B678-4B20-A746-A4F6EA8D85B9}" type="pres">
      <dgm:prSet presAssocID="{49E9A2EB-295B-48B3-B59B-DA193260BCBD}" presName="Subtitle" presStyleLbl="revTx" presStyleIdx="2" presStyleCnt="6">
        <dgm:presLayoutVars>
          <dgm:chMax val="0"/>
          <dgm:bulletEnabled/>
        </dgm:presLayoutVars>
      </dgm:prSet>
      <dgm:spPr/>
    </dgm:pt>
    <dgm:pt modelId="{064BB076-5F9D-4461-B70E-8503CF3C3D57}" type="pres">
      <dgm:prSet presAssocID="{49E9A2EB-295B-48B3-B59B-DA193260BCBD}" presName="Description" presStyleLbl="revTx" presStyleIdx="3" presStyleCnt="6">
        <dgm:presLayoutVars>
          <dgm:bulletEnabled/>
        </dgm:presLayoutVars>
      </dgm:prSet>
      <dgm:spPr/>
    </dgm:pt>
    <dgm:pt modelId="{8FE7F25F-3CA1-4E03-A2B0-BDBE660D9B41}" type="pres">
      <dgm:prSet presAssocID="{F34C5F15-3BCE-49D4-BA2E-4A72D5BF7FBD}" presName="sibTrans" presStyleLbl="sibTrans2D1" presStyleIdx="0" presStyleCnt="0"/>
      <dgm:spPr/>
    </dgm:pt>
    <dgm:pt modelId="{30EE76BE-C2EB-4E1A-AFFE-8A67769945C7}" type="pres">
      <dgm:prSet presAssocID="{B85D9632-427C-4901-809C-62CAFF012653}" presName="Composite" presStyleCnt="0"/>
      <dgm:spPr/>
    </dgm:pt>
    <dgm:pt modelId="{AAF92774-DDB4-47F5-9AD0-ADAF1BAE45F8}" type="pres">
      <dgm:prSet presAssocID="{B85D9632-427C-4901-809C-62CAFF012653}"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l="12228" r="21027" b="7"/>
          <a:stretch/>
        </a:blipFill>
      </dgm:spPr>
      <dgm:extLst>
        <a:ext uri="{E40237B7-FDA0-4F09-8148-C483321AD2D9}">
          <dgm14:cNvPr xmlns:dgm14="http://schemas.microsoft.com/office/drawing/2010/diagram" id="0" name="" descr="Écran tactile visuel avec icônes web"/>
        </a:ext>
      </dgm:extLst>
    </dgm:pt>
    <dgm:pt modelId="{7DEAFB75-166F-4BBF-BCEA-869E2477D520}" type="pres">
      <dgm:prSet presAssocID="{B85D9632-427C-4901-809C-62CAFF012653}" presName="Subtitle" presStyleLbl="revTx" presStyleIdx="4" presStyleCnt="6">
        <dgm:presLayoutVars>
          <dgm:chMax val="0"/>
          <dgm:bulletEnabled/>
        </dgm:presLayoutVars>
      </dgm:prSet>
      <dgm:spPr/>
    </dgm:pt>
    <dgm:pt modelId="{C95BD744-708D-4300-8588-B40357D7AE52}" type="pres">
      <dgm:prSet presAssocID="{B85D9632-427C-4901-809C-62CAFF012653}" presName="Description" presStyleLbl="revTx" presStyleIdx="5" presStyleCnt="6">
        <dgm:presLayoutVars>
          <dgm:bulletEnabled/>
        </dgm:presLayoutVars>
      </dgm:prSet>
      <dgm:spPr/>
    </dgm:pt>
  </dgm:ptLst>
  <dgm:cxnLst>
    <dgm:cxn modelId="{B94DC612-5C2D-4DFE-AB36-07680C46E43B}" type="presOf" srcId="{F34C5F15-3BCE-49D4-BA2E-4A72D5BF7FBD}" destId="{8FE7F25F-3CA1-4E03-A2B0-BDBE660D9B41}" srcOrd="0" destOrd="0" presId="urn:microsoft.com/office/officeart/2024/3/layout/verticalVisualTextBlock1"/>
    <dgm:cxn modelId="{579EB717-B845-414B-AA61-D779F40B8757}" srcId="{B85D9632-427C-4901-809C-62CAFF012653}" destId="{C682357D-7B13-42FA-A1B2-74CFFA61C0D2}" srcOrd="0" destOrd="0" parTransId="{BEA9F530-03D9-412F-B45F-2FABA286D8D8}" sibTransId="{02DF71AB-FF47-4380-8CDF-2AC48727F818}"/>
    <dgm:cxn modelId="{522CB238-BBF5-4360-9839-42B4A5C2ABF9}" type="presOf" srcId="{D35355F8-90F2-4236-8160-B2CE519B4882}" destId="{1D67604D-BD6A-4D8E-B883-F505A14192B5}" srcOrd="0" destOrd="0" presId="urn:microsoft.com/office/officeart/2024/3/layout/verticalVisualTextBlock1"/>
    <dgm:cxn modelId="{55791143-5D71-423B-920B-D30A8F7F40D2}" type="presOf" srcId="{B85D9632-427C-4901-809C-62CAFF012653}" destId="{7DEAFB75-166F-4BBF-BCEA-869E2477D520}" srcOrd="0" destOrd="0" presId="urn:microsoft.com/office/officeart/2024/3/layout/verticalVisualTextBlock1"/>
    <dgm:cxn modelId="{E1C59F6D-4704-43B3-9C41-14EC39C0A0BF}" srcId="{ABFDC224-F50C-4C4F-B5F1-8C3462D6BFDF}" destId="{B85D9632-427C-4901-809C-62CAFF012653}" srcOrd="2" destOrd="0" parTransId="{4874BB40-4331-495A-B878-85FB899FE00E}" sibTransId="{DDD08341-C2E8-4835-AA16-F240BFC3C128}"/>
    <dgm:cxn modelId="{0F01E470-9C6D-4C34-95F6-8031B7ADA5D6}" type="presOf" srcId="{ACDB21F4-CB91-40C3-A014-CCCB6FE4E3AC}" destId="{321CAB15-E805-459B-A8C5-16566F545B86}" srcOrd="0" destOrd="0" presId="urn:microsoft.com/office/officeart/2024/3/layout/verticalVisualTextBlock1"/>
    <dgm:cxn modelId="{896F2D51-8668-4493-9300-3376B66D0BF5}" srcId="{ABFDC224-F50C-4C4F-B5F1-8C3462D6BFDF}" destId="{D35355F8-90F2-4236-8160-B2CE519B4882}" srcOrd="0" destOrd="0" parTransId="{B4E1C166-3444-4E65-91D6-5512E267EA70}" sibTransId="{ACDB21F4-CB91-40C3-A014-CCCB6FE4E3AC}"/>
    <dgm:cxn modelId="{ED900C7A-B502-49B3-BCA5-EBA357B35638}" type="presOf" srcId="{ABFDC224-F50C-4C4F-B5F1-8C3462D6BFDF}" destId="{4EEBED74-55BC-4CC5-B9F7-CFB2EBB9C9C5}" srcOrd="0" destOrd="0" presId="urn:microsoft.com/office/officeart/2024/3/layout/verticalVisualTextBlock1"/>
    <dgm:cxn modelId="{25E047A6-2B91-47BE-9A23-29E691497695}" type="presOf" srcId="{49E9A2EB-295B-48B3-B59B-DA193260BCBD}" destId="{9722D8B6-B678-4B20-A746-A4F6EA8D85B9}" srcOrd="0" destOrd="0" presId="urn:microsoft.com/office/officeart/2024/3/layout/verticalVisualTextBlock1"/>
    <dgm:cxn modelId="{1B1A2FAA-E512-41B9-B062-457E073E5CC9}" type="presOf" srcId="{FE6A8D8E-6A8E-4D78-A86B-37337F42DE79}" destId="{064BB076-5F9D-4461-B70E-8503CF3C3D57}" srcOrd="0" destOrd="0" presId="urn:microsoft.com/office/officeart/2024/3/layout/verticalVisualTextBlock1"/>
    <dgm:cxn modelId="{E3A76BC3-BCDF-4488-BF01-44A490443A13}" srcId="{D35355F8-90F2-4236-8160-B2CE519B4882}" destId="{74576326-40B0-4741-B333-0265436DB07D}" srcOrd="0" destOrd="0" parTransId="{B827FA73-96ED-4BF0-B852-5AE6BAEE1900}" sibTransId="{2BD760CD-DD35-406B-986A-2B071DA5C8D7}"/>
    <dgm:cxn modelId="{325196C3-20ED-4EDD-98A7-E8D883DE07BC}" srcId="{49E9A2EB-295B-48B3-B59B-DA193260BCBD}" destId="{FE6A8D8E-6A8E-4D78-A86B-37337F42DE79}" srcOrd="0" destOrd="0" parTransId="{8BC1978D-1665-4262-ADF4-AA2EEA1B1D4D}" sibTransId="{FBAE88D2-EB04-425C-80E2-EE165E178F5C}"/>
    <dgm:cxn modelId="{A8BE3CF0-BC50-47BD-8384-8429343106B3}" srcId="{ABFDC224-F50C-4C4F-B5F1-8C3462D6BFDF}" destId="{49E9A2EB-295B-48B3-B59B-DA193260BCBD}" srcOrd="1" destOrd="0" parTransId="{621ABB90-C1AD-4275-94E3-10F7BD070D8E}" sibTransId="{F34C5F15-3BCE-49D4-BA2E-4A72D5BF7FBD}"/>
    <dgm:cxn modelId="{7B6E6CF2-2630-4211-A71C-CF170708DB3A}" type="presOf" srcId="{74576326-40B0-4741-B333-0265436DB07D}" destId="{872D2636-A557-47FE-A9DD-5C5BEE1D2CCF}" srcOrd="0" destOrd="0" presId="urn:microsoft.com/office/officeart/2024/3/layout/verticalVisualTextBlock1"/>
    <dgm:cxn modelId="{2362E7F5-29B5-4D30-B837-9FCAB2223B3A}" type="presOf" srcId="{C682357D-7B13-42FA-A1B2-74CFFA61C0D2}" destId="{C95BD744-708D-4300-8588-B40357D7AE52}" srcOrd="0" destOrd="0" presId="urn:microsoft.com/office/officeart/2024/3/layout/verticalVisualTextBlock1"/>
    <dgm:cxn modelId="{4757AC6A-E10A-42A3-BE6D-C903AD5B7DA5}" type="presParOf" srcId="{4EEBED74-55BC-4CC5-B9F7-CFB2EBB9C9C5}" destId="{66AB4F74-E143-45F2-BAD8-B657B0DA60E2}" srcOrd="0" destOrd="0" presId="urn:microsoft.com/office/officeart/2024/3/layout/verticalVisualTextBlock1"/>
    <dgm:cxn modelId="{66A04254-6BC8-498C-8012-0FB15C7A570E}" type="presParOf" srcId="{66AB4F74-E143-45F2-BAD8-B657B0DA60E2}" destId="{B35DEA08-8D61-4DDC-87F6-D93FE2BB8833}" srcOrd="0" destOrd="0" presId="urn:microsoft.com/office/officeart/2024/3/layout/verticalVisualTextBlock1"/>
    <dgm:cxn modelId="{710E7A20-A30A-4590-AB8D-779355110F8B}" type="presParOf" srcId="{66AB4F74-E143-45F2-BAD8-B657B0DA60E2}" destId="{1D67604D-BD6A-4D8E-B883-F505A14192B5}" srcOrd="1" destOrd="0" presId="urn:microsoft.com/office/officeart/2024/3/layout/verticalVisualTextBlock1"/>
    <dgm:cxn modelId="{1C57D14F-A4E0-4D96-A091-F58BE5C8DF7A}" type="presParOf" srcId="{66AB4F74-E143-45F2-BAD8-B657B0DA60E2}" destId="{872D2636-A557-47FE-A9DD-5C5BEE1D2CCF}" srcOrd="2" destOrd="0" presId="urn:microsoft.com/office/officeart/2024/3/layout/verticalVisualTextBlock1"/>
    <dgm:cxn modelId="{9F026BBE-A41B-47DE-9812-CC804FC982BA}" type="presParOf" srcId="{4EEBED74-55BC-4CC5-B9F7-CFB2EBB9C9C5}" destId="{321CAB15-E805-459B-A8C5-16566F545B86}" srcOrd="1" destOrd="0" presId="urn:microsoft.com/office/officeart/2024/3/layout/verticalVisualTextBlock1"/>
    <dgm:cxn modelId="{93F0F67F-2F4C-4675-8BB5-22C9089F4854}" type="presParOf" srcId="{4EEBED74-55BC-4CC5-B9F7-CFB2EBB9C9C5}" destId="{EB4D3DC4-769C-4D16-A9F6-308D0F37A595}" srcOrd="2" destOrd="0" presId="urn:microsoft.com/office/officeart/2024/3/layout/verticalVisualTextBlock1"/>
    <dgm:cxn modelId="{2EFE08BE-25D8-44A1-8F8D-FF66845F22DF}" type="presParOf" srcId="{EB4D3DC4-769C-4D16-A9F6-308D0F37A595}" destId="{C5B0DA96-F3C2-4554-A86A-1706CE137FFB}" srcOrd="0" destOrd="0" presId="urn:microsoft.com/office/officeart/2024/3/layout/verticalVisualTextBlock1"/>
    <dgm:cxn modelId="{24EF75C7-9FE1-4CE3-85C9-B7B0432C8BDA}" type="presParOf" srcId="{EB4D3DC4-769C-4D16-A9F6-308D0F37A595}" destId="{9722D8B6-B678-4B20-A746-A4F6EA8D85B9}" srcOrd="1" destOrd="0" presId="urn:microsoft.com/office/officeart/2024/3/layout/verticalVisualTextBlock1"/>
    <dgm:cxn modelId="{05583331-5BCB-4B6B-8D9C-9BC6E9BAE184}" type="presParOf" srcId="{EB4D3DC4-769C-4D16-A9F6-308D0F37A595}" destId="{064BB076-5F9D-4461-B70E-8503CF3C3D57}" srcOrd="2" destOrd="0" presId="urn:microsoft.com/office/officeart/2024/3/layout/verticalVisualTextBlock1"/>
    <dgm:cxn modelId="{434B1CD9-9E84-4B2D-B804-402C7A007EF2}" type="presParOf" srcId="{4EEBED74-55BC-4CC5-B9F7-CFB2EBB9C9C5}" destId="{8FE7F25F-3CA1-4E03-A2B0-BDBE660D9B41}" srcOrd="3" destOrd="0" presId="urn:microsoft.com/office/officeart/2024/3/layout/verticalVisualTextBlock1"/>
    <dgm:cxn modelId="{EBF51CD2-EA8D-4EBB-ABD4-EFA8171BE12F}" type="presParOf" srcId="{4EEBED74-55BC-4CC5-B9F7-CFB2EBB9C9C5}" destId="{30EE76BE-C2EB-4E1A-AFFE-8A67769945C7}" srcOrd="4" destOrd="0" presId="urn:microsoft.com/office/officeart/2024/3/layout/verticalVisualTextBlock1"/>
    <dgm:cxn modelId="{3E523875-DED1-47B3-BB3B-127A3AA8B89F}" type="presParOf" srcId="{30EE76BE-C2EB-4E1A-AFFE-8A67769945C7}" destId="{AAF92774-DDB4-47F5-9AD0-ADAF1BAE45F8}" srcOrd="0" destOrd="0" presId="urn:microsoft.com/office/officeart/2024/3/layout/verticalVisualTextBlock1"/>
    <dgm:cxn modelId="{30F9E275-2679-4B12-922A-D348541069CD}" type="presParOf" srcId="{30EE76BE-C2EB-4E1A-AFFE-8A67769945C7}" destId="{7DEAFB75-166F-4BBF-BCEA-869E2477D520}" srcOrd="1" destOrd="0" presId="urn:microsoft.com/office/officeart/2024/3/layout/verticalVisualTextBlock1"/>
    <dgm:cxn modelId="{8A633CE6-E3B9-44A3-913B-CC3EF1D26B23}" type="presParOf" srcId="{30EE76BE-C2EB-4E1A-AFFE-8A67769945C7}" destId="{C95BD744-708D-4300-8588-B40357D7AE52}"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5DEA08-8D61-4DDC-87F6-D93FE2BB8833}">
      <dsp:nvSpPr>
        <dsp:cNvPr id="0" name=""/>
        <dsp:cNvSpPr/>
      </dsp:nvSpPr>
      <dsp:spPr>
        <a:xfrm>
          <a:off x="0" y="0"/>
          <a:ext cx="1487350" cy="1487350"/>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l="34714" r="8282" b="-7"/>
          <a:stretch/>
        </a:blipFill>
        <a:ln>
          <a:noFill/>
        </a:ln>
        <a:effectLst/>
      </dsp:spPr>
      <dsp:style>
        <a:lnRef idx="0">
          <a:scrgbClr r="0" g="0" b="0"/>
        </a:lnRef>
        <a:fillRef idx="3">
          <a:scrgbClr r="0" g="0" b="0"/>
        </a:fillRef>
        <a:effectRef idx="2">
          <a:scrgbClr r="0" g="0" b="0"/>
        </a:effectRef>
        <a:fontRef idx="minor">
          <a:schemeClr val="lt1"/>
        </a:fontRef>
      </dsp:style>
    </dsp:sp>
    <dsp:sp modelId="{1D67604D-BD6A-4D8E-B883-F505A14192B5}">
      <dsp:nvSpPr>
        <dsp:cNvPr id="0" name=""/>
        <dsp:cNvSpPr/>
      </dsp:nvSpPr>
      <dsp:spPr>
        <a:xfrm>
          <a:off x="1667350" y="0"/>
          <a:ext cx="9586317" cy="37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Déploiement sur infrastructure cloud</a:t>
          </a:r>
        </a:p>
      </dsp:txBody>
      <dsp:txXfrm>
        <a:off x="1667350" y="0"/>
        <a:ext cx="9586317" cy="379097"/>
      </dsp:txXfrm>
    </dsp:sp>
    <dsp:sp modelId="{872D2636-A557-47FE-A9DD-5C5BEE1D2CCF}">
      <dsp:nvSpPr>
        <dsp:cNvPr id="0" name=""/>
        <dsp:cNvSpPr/>
      </dsp:nvSpPr>
      <dsp:spPr>
        <a:xfrm>
          <a:off x="1667350" y="379097"/>
          <a:ext cx="9586317" cy="1108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Le déploiement sur des plateformes cloud comme AWS, Azure ou VMware est essentiel pour héberger les applications.</a:t>
          </a:r>
        </a:p>
      </dsp:txBody>
      <dsp:txXfrm>
        <a:off x="1667350" y="379097"/>
        <a:ext cx="9586317" cy="1108253"/>
      </dsp:txXfrm>
    </dsp:sp>
    <dsp:sp modelId="{C5B0DA96-F3C2-4554-A86A-1706CE137FFB}">
      <dsp:nvSpPr>
        <dsp:cNvPr id="0" name=""/>
        <dsp:cNvSpPr/>
      </dsp:nvSpPr>
      <dsp:spPr>
        <a:xfrm>
          <a:off x="0" y="1606338"/>
          <a:ext cx="1487350" cy="1487350"/>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l="18873" r="14382" b="7"/>
          <a:stretch/>
        </a:blipFill>
        <a:ln>
          <a:noFill/>
        </a:ln>
        <a:effectLst/>
      </dsp:spPr>
      <dsp:style>
        <a:lnRef idx="0">
          <a:scrgbClr r="0" g="0" b="0"/>
        </a:lnRef>
        <a:fillRef idx="3">
          <a:scrgbClr r="0" g="0" b="0"/>
        </a:fillRef>
        <a:effectRef idx="2">
          <a:scrgbClr r="0" g="0" b="0"/>
        </a:effectRef>
        <a:fontRef idx="minor">
          <a:schemeClr val="lt1"/>
        </a:fontRef>
      </dsp:style>
    </dsp:sp>
    <dsp:sp modelId="{9722D8B6-B678-4B20-A746-A4F6EA8D85B9}">
      <dsp:nvSpPr>
        <dsp:cNvPr id="0" name=""/>
        <dsp:cNvSpPr/>
      </dsp:nvSpPr>
      <dsp:spPr>
        <a:xfrm>
          <a:off x="1667350" y="1606338"/>
          <a:ext cx="9586317" cy="37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Gestion des accès et environnements</a:t>
          </a:r>
        </a:p>
      </dsp:txBody>
      <dsp:txXfrm>
        <a:off x="1667350" y="1606338"/>
        <a:ext cx="9586317" cy="379097"/>
      </dsp:txXfrm>
    </dsp:sp>
    <dsp:sp modelId="{064BB076-5F9D-4461-B70E-8503CF3C3D57}">
      <dsp:nvSpPr>
        <dsp:cNvPr id="0" name=""/>
        <dsp:cNvSpPr/>
      </dsp:nvSpPr>
      <dsp:spPr>
        <a:xfrm>
          <a:off x="1667350" y="1985435"/>
          <a:ext cx="9586317" cy="1108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Configurer les accès et gérer les environnements permet un fonctionnement stable et sécurisé de l’application.</a:t>
          </a:r>
        </a:p>
      </dsp:txBody>
      <dsp:txXfrm>
        <a:off x="1667350" y="1985435"/>
        <a:ext cx="9586317" cy="1108253"/>
      </dsp:txXfrm>
    </dsp:sp>
    <dsp:sp modelId="{AAF92774-DDB4-47F5-9AD0-ADAF1BAE45F8}">
      <dsp:nvSpPr>
        <dsp:cNvPr id="0" name=""/>
        <dsp:cNvSpPr/>
      </dsp:nvSpPr>
      <dsp:spPr>
        <a:xfrm>
          <a:off x="0" y="3212676"/>
          <a:ext cx="1487350" cy="1487350"/>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l="12228" r="21027" b="7"/>
          <a:stretch/>
        </a:blipFill>
        <a:ln>
          <a:noFill/>
        </a:ln>
        <a:effectLst/>
      </dsp:spPr>
      <dsp:style>
        <a:lnRef idx="0">
          <a:scrgbClr r="0" g="0" b="0"/>
        </a:lnRef>
        <a:fillRef idx="3">
          <a:scrgbClr r="0" g="0" b="0"/>
        </a:fillRef>
        <a:effectRef idx="2">
          <a:scrgbClr r="0" g="0" b="0"/>
        </a:effectRef>
        <a:fontRef idx="minor">
          <a:schemeClr val="lt1"/>
        </a:fontRef>
      </dsp:style>
    </dsp:sp>
    <dsp:sp modelId="{7DEAFB75-166F-4BBF-BCEA-869E2477D520}">
      <dsp:nvSpPr>
        <dsp:cNvPr id="0" name=""/>
        <dsp:cNvSpPr/>
      </dsp:nvSpPr>
      <dsp:spPr>
        <a:xfrm>
          <a:off x="1667350" y="3212676"/>
          <a:ext cx="9586317" cy="37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Sécurité et fiabilité</a:t>
          </a:r>
        </a:p>
      </dsp:txBody>
      <dsp:txXfrm>
        <a:off x="1667350" y="3212676"/>
        <a:ext cx="9586317" cy="379097"/>
      </dsp:txXfrm>
    </dsp:sp>
    <dsp:sp modelId="{C95BD744-708D-4300-8588-B40357D7AE52}">
      <dsp:nvSpPr>
        <dsp:cNvPr id="0" name=""/>
        <dsp:cNvSpPr/>
      </dsp:nvSpPr>
      <dsp:spPr>
        <a:xfrm>
          <a:off x="1667350" y="3591773"/>
          <a:ext cx="9586317" cy="1108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La sécurité, la protection des données et la fiabilité doivent être intégrées dans le processus de mise en production.</a:t>
          </a:r>
        </a:p>
      </dsp:txBody>
      <dsp:txXfrm>
        <a:off x="1667350" y="3591773"/>
        <a:ext cx="9586317" cy="1108253"/>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7CD5EC-2E25-4E1F-B062-3F3C9E24F7A9}" type="datetimeFigureOut">
              <a:t>08/04/2026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65AC6B-F813-4F91-A0FD-F734E79094C0}" type="slidenum">
              <a:t>‹N°›</a:t>
            </a:fld>
            <a:endParaRPr lang="en-US"/>
          </a:p>
        </p:txBody>
      </p:sp>
    </p:spTree>
    <p:extLst>
      <p:ext uri="{BB962C8B-B14F-4D97-AF65-F5344CB8AC3E}">
        <p14:creationId xmlns:p14="http://schemas.microsoft.com/office/powerpoint/2010/main" val="3382550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 contenu généré par l’IA peut être incorrect.
---
</a:t>
            </a:r>
          </a:p>
        </p:txBody>
      </p:sp>
      <p:sp>
        <p:nvSpPr>
          <p:cNvPr id="4" name="Slide Number Placeholder 3"/>
          <p:cNvSpPr>
            <a:spLocks noGrp="1"/>
          </p:cNvSpPr>
          <p:nvPr>
            <p:ph type="sldNum" sz="quarter" idx="5"/>
          </p:nvPr>
        </p:nvSpPr>
        <p:spPr/>
        <p:txBody>
          <a:bodyPr/>
          <a:lstStyle/>
          <a:p>
            <a:fld id="{13C53DB3-B793-4F2A-86B3-0537A2B22664}" type="slidenum">
              <a:t>1</a:t>
            </a:fld>
            <a:endParaRPr lang="en-US"/>
          </a:p>
        </p:txBody>
      </p:sp>
    </p:spTree>
    <p:extLst>
      <p:ext uri="{BB962C8B-B14F-4D97-AF65-F5344CB8AC3E}">
        <p14:creationId xmlns:p14="http://schemas.microsoft.com/office/powerpoint/2010/main" val="30107203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Lancement du projet d’études Bachelor 2
</a:t>
            </a:r>
          </a:p>
        </p:txBody>
      </p:sp>
      <p:sp>
        <p:nvSpPr>
          <p:cNvPr id="4" name="Slide Number Placeholder 3"/>
          <p:cNvSpPr>
            <a:spLocks noGrp="1"/>
          </p:cNvSpPr>
          <p:nvPr>
            <p:ph type="sldNum" sz="quarter" idx="5"/>
          </p:nvPr>
        </p:nvSpPr>
        <p:spPr/>
        <p:txBody>
          <a:bodyPr/>
          <a:lstStyle/>
          <a:p>
            <a:fld id="{13C53DB3-B793-4F2A-86B3-0537A2B22664}" type="slidenum">
              <a:t>2</a:t>
            </a:fld>
            <a:endParaRPr lang="en-US"/>
          </a:p>
        </p:txBody>
      </p:sp>
    </p:spTree>
    <p:extLst>
      <p:ext uri="{BB962C8B-B14F-4D97-AF65-F5344CB8AC3E}">
        <p14:creationId xmlns:p14="http://schemas.microsoft.com/office/powerpoint/2010/main" val="1433661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Ce projet d’études marque une étape structurante du parcours des étudiants de Bachelor 2 en école informatique. Il s’inscrit dans une logique de professionnalisation progressive, visant à rapprocher les apprentissages académiques des réalités du monde professionnel. Le projet proposé repose sur une problématique réelle issue du secteur agricole, formulée dans un cadre institutionnel, ce qui renforce son authenticité et son intérêt pédagogique. L’objectif général est de permettre aux étudiants de se positionner comme de jeunes ingénieurs ou développeurs capables de comprendre un besoin métier, de le traduire en solution technique et d’en démontrer la valeur.
Le thème central du projet, « IA &amp; Agriculture », constitue un terrain d’expérimentation particulièrement riche. Il permet de mobiliser des compétences variées allant du développement applicatif à l’intelligence artificielle, en passant par le cloud et les architectures réseau. À travers ce projet, les étudiants devront concevoir une application mobile complète, intégrant une fonctionnalité d’IA simple mais pertinente, et déployée sur une infrastructure cloud. Le projet ne se limite pas à un exercice technique : il s’agit également de développer une posture de gestion de projet, de travail collaboratif et de communication professionnelle.
Cette phase de lancement vise à clarifier le cadre, les attendus et les contraintes du projet. Elle permet d’aligner l’ensemble des étudiants sur les objectifs pédagogiques, les livrables à produire et les critères d’évaluation. Elle constitue également un moment clé pour susciter l’engagement, la motivation et la créativité des équipes, en donnant du sens au travail à réaliser tout au long de l’année.
</a:t>
            </a:r>
          </a:p>
        </p:txBody>
      </p:sp>
      <p:sp>
        <p:nvSpPr>
          <p:cNvPr id="4" name="Slide Number Placeholder 3"/>
          <p:cNvSpPr>
            <a:spLocks noGrp="1"/>
          </p:cNvSpPr>
          <p:nvPr>
            <p:ph type="sldNum" sz="quarter" idx="5"/>
          </p:nvPr>
        </p:nvSpPr>
        <p:spPr/>
        <p:txBody>
          <a:bodyPr/>
          <a:lstStyle/>
          <a:p>
            <a:fld id="{13C53DB3-B793-4F2A-86B3-0537A2B22664}" type="slidenum">
              <a:t>3</a:t>
            </a:fld>
            <a:endParaRPr lang="en-US"/>
          </a:p>
        </p:txBody>
      </p:sp>
    </p:spTree>
    <p:extLst>
      <p:ext uri="{BB962C8B-B14F-4D97-AF65-F5344CB8AC3E}">
        <p14:creationId xmlns:p14="http://schemas.microsoft.com/office/powerpoint/2010/main" val="2688506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Objectifs du projet
</a:t>
            </a:r>
          </a:p>
        </p:txBody>
      </p:sp>
      <p:sp>
        <p:nvSpPr>
          <p:cNvPr id="4" name="Slide Number Placeholder 3"/>
          <p:cNvSpPr>
            <a:spLocks noGrp="1"/>
          </p:cNvSpPr>
          <p:nvPr>
            <p:ph type="sldNum" sz="quarter" idx="5"/>
          </p:nvPr>
        </p:nvSpPr>
        <p:spPr/>
        <p:txBody>
          <a:bodyPr/>
          <a:lstStyle/>
          <a:p>
            <a:fld id="{13C53DB3-B793-4F2A-86B3-0537A2B22664}" type="slidenum">
              <a:t>4</a:t>
            </a:fld>
            <a:endParaRPr lang="en-US"/>
          </a:p>
        </p:txBody>
      </p:sp>
    </p:spTree>
    <p:extLst>
      <p:ext uri="{BB962C8B-B14F-4D97-AF65-F5344CB8AC3E}">
        <p14:creationId xmlns:p14="http://schemas.microsoft.com/office/powerpoint/2010/main" val="2250675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Le projet d’études Bachelor 2 poursuit plusieurs objectifs pédagogiques complémentaires. Le premier consiste à développer une compréhension approfondie d’une problématique entrepreneuriale réelle. Les étudiants doivent être capables d’analyser un contexte métier, d’identifier un besoin concret et de proposer une solution numérique adaptée. Cette démarche favorise l’acquisition d’une vision globale du projet, allant bien au-delà de la simple écriture de code.
Un second objectif fondamental est l’initiation à la démarche de projet technique. Les étudiants sont amenés à structurer leur travail, à définir des priorités, à répartir les rôles au sein de l’équipe et à respecter des contraintes de temps et de ressources. Le projet sert également de support pour exploiter les acquis théoriques des différents enseignements suivis en Bachelor 1 et 2, notamment en développement informatique, intelligence artificielle, cloud, réseaux, prototypage, mais aussi en communication écrite et orale.
Enfin, le projet vise à encourager l’intelligence collective, la créativité et l’esprit d’initiative. Le travail en groupe permet aux étudiants d’apprendre à collaborer, à confronter leurs idées et à prendre des décisions techniques argumentées. Ces compétences transversales sont essentielles pour leur future insertion professionnelle et constituent un enjeu majeur de ce projet d’études.
</a:t>
            </a:r>
          </a:p>
        </p:txBody>
      </p:sp>
      <p:sp>
        <p:nvSpPr>
          <p:cNvPr id="4" name="Slide Number Placeholder 3"/>
          <p:cNvSpPr>
            <a:spLocks noGrp="1"/>
          </p:cNvSpPr>
          <p:nvPr>
            <p:ph type="sldNum" sz="quarter" idx="5"/>
          </p:nvPr>
        </p:nvSpPr>
        <p:spPr/>
        <p:txBody>
          <a:bodyPr/>
          <a:lstStyle/>
          <a:p>
            <a:fld id="{13C53DB3-B793-4F2A-86B3-0537A2B22664}" type="slidenum">
              <a:t>5</a:t>
            </a:fld>
            <a:endParaRPr lang="en-US"/>
          </a:p>
        </p:txBody>
      </p:sp>
    </p:spTree>
    <p:extLst>
      <p:ext uri="{BB962C8B-B14F-4D97-AF65-F5344CB8AC3E}">
        <p14:creationId xmlns:p14="http://schemas.microsoft.com/office/powerpoint/2010/main" val="3494113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Comprendre les enjeux de l’IA dans le secteur agricole
</a:t>
            </a:r>
          </a:p>
        </p:txBody>
      </p:sp>
      <p:sp>
        <p:nvSpPr>
          <p:cNvPr id="4" name="Slide Number Placeholder 3"/>
          <p:cNvSpPr>
            <a:spLocks noGrp="1"/>
          </p:cNvSpPr>
          <p:nvPr>
            <p:ph type="sldNum" sz="quarter" idx="5"/>
          </p:nvPr>
        </p:nvSpPr>
        <p:spPr/>
        <p:txBody>
          <a:bodyPr/>
          <a:lstStyle/>
          <a:p>
            <a:fld id="{13C53DB3-B793-4F2A-86B3-0537A2B22664}" type="slidenum">
              <a:t>6</a:t>
            </a:fld>
            <a:endParaRPr lang="en-US"/>
          </a:p>
        </p:txBody>
      </p:sp>
    </p:spTree>
    <p:extLst>
      <p:ext uri="{BB962C8B-B14F-4D97-AF65-F5344CB8AC3E}">
        <p14:creationId xmlns:p14="http://schemas.microsoft.com/office/powerpoint/2010/main" val="1171176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La thématique « IA &amp; Agriculture » place les étudiants au cœur des enjeux agricoles contemporains. Le secteur agricole fait face à de nombreux défis, tels que l’optimisation des rendements, la gestion durable des ressources, la surveillance des cultures et des élevages, ou encore la préservation de la biodiversité. L’intelligence artificielle apparaît aujourd’hui comme un levier technologique majeur pour répondre à ces problématiques.
Dans le cadre du projet, les étudiants sont invités à explorer des cas d’usage concrets de l’IA appliquée à l’agriculture. Cela peut inclure, par exemple, la détection de maladies des plantes à partir d’images via la vision par ordinateur, la prédiction des rendements agricoles à partir de données météorologiques et de données de sol, ou encore la surveillance de ruches ou d’élevages à l’aide de capteurs connectés et d’algorithmes d’analyse.
L’enjeu n’est pas de développer des modèles d’IA complexes, mais de comprendre comment intégrer intelligemment une brique d’IA dans une solution numérique globale. Les étudiants doivent également être capables d’évaluer l’impact potentiel de leur solution sur les pratiques agricoles, en tenant compte des aspects techniques, économiques et environnementaux.
</a:t>
            </a:r>
          </a:p>
        </p:txBody>
      </p:sp>
      <p:sp>
        <p:nvSpPr>
          <p:cNvPr id="4" name="Slide Number Placeholder 3"/>
          <p:cNvSpPr>
            <a:spLocks noGrp="1"/>
          </p:cNvSpPr>
          <p:nvPr>
            <p:ph type="sldNum" sz="quarter" idx="5"/>
          </p:nvPr>
        </p:nvSpPr>
        <p:spPr/>
        <p:txBody>
          <a:bodyPr/>
          <a:lstStyle/>
          <a:p>
            <a:fld id="{13C53DB3-B793-4F2A-86B3-0537A2B22664}" type="slidenum">
              <a:t>7</a:t>
            </a:fld>
            <a:endParaRPr lang="en-US"/>
          </a:p>
        </p:txBody>
      </p:sp>
    </p:spTree>
    <p:extLst>
      <p:ext uri="{BB962C8B-B14F-4D97-AF65-F5344CB8AC3E}">
        <p14:creationId xmlns:p14="http://schemas.microsoft.com/office/powerpoint/2010/main" val="754589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Contraintes et attentes techniques
</a:t>
            </a:r>
          </a:p>
        </p:txBody>
      </p:sp>
      <p:sp>
        <p:nvSpPr>
          <p:cNvPr id="4" name="Slide Number Placeholder 3"/>
          <p:cNvSpPr>
            <a:spLocks noGrp="1"/>
          </p:cNvSpPr>
          <p:nvPr>
            <p:ph type="sldNum" sz="quarter" idx="5"/>
          </p:nvPr>
        </p:nvSpPr>
        <p:spPr/>
        <p:txBody>
          <a:bodyPr/>
          <a:lstStyle/>
          <a:p>
            <a:fld id="{13C53DB3-B793-4F2A-86B3-0537A2B22664}" type="slidenum">
              <a:t>8</a:t>
            </a:fld>
            <a:endParaRPr lang="en-US"/>
          </a:p>
        </p:txBody>
      </p:sp>
    </p:spTree>
    <p:extLst>
      <p:ext uri="{BB962C8B-B14F-4D97-AF65-F5344CB8AC3E}">
        <p14:creationId xmlns:p14="http://schemas.microsoft.com/office/powerpoint/2010/main" val="666614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Le projet impose un ensemble d’exigences techniques destinées à garantir un niveau de complexité cohérent avec le niveau Bachelor 2. Les étudiants doivent concevoir et développer une application mobile complète, intégrant à la fois une interface utilisateur (frontend) et une logique serveur (backend). Cette application doit inclure une fonctionnalité d’intelligence artificielle, telle qu’un diagnostic, une prédiction ou une recommandation automatisée.
Un autre aspect central du projet concerne le déploiement sur une infrastructure cloud. Les étudiants doivent être capables de comprendre les principes de base du cloud computing, de configurer un environnement de déploiement et de rendre leur application accessible selon des modalités définies (accès public ou via VPN). Le projet doit également illustrer une architecture réseau simplifiée, intégrant éventuellement des capteurs IoT simulés ou réels.
Ces exigences visent à confronter les étudiants à des problématiques proches de celles rencontrées en entreprise : choix technologiques, contraintes de sécurité, compatibilité des outils et performance globale de la solution. Le respect de ces attentes techniques constitue un élément clé de l’évaluation finale.
</a:t>
            </a:r>
          </a:p>
        </p:txBody>
      </p:sp>
      <p:sp>
        <p:nvSpPr>
          <p:cNvPr id="4" name="Slide Number Placeholder 3"/>
          <p:cNvSpPr>
            <a:spLocks noGrp="1"/>
          </p:cNvSpPr>
          <p:nvPr>
            <p:ph type="sldNum" sz="quarter" idx="5"/>
          </p:nvPr>
        </p:nvSpPr>
        <p:spPr/>
        <p:txBody>
          <a:bodyPr/>
          <a:lstStyle/>
          <a:p>
            <a:fld id="{13C53DB3-B793-4F2A-86B3-0537A2B22664}" type="slidenum">
              <a:t>9</a:t>
            </a:fld>
            <a:endParaRPr lang="en-US"/>
          </a:p>
        </p:txBody>
      </p:sp>
    </p:spTree>
    <p:extLst>
      <p:ext uri="{BB962C8B-B14F-4D97-AF65-F5344CB8AC3E}">
        <p14:creationId xmlns:p14="http://schemas.microsoft.com/office/powerpoint/2010/main" val="950104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Technologies imposées et justification des choix
</a:t>
            </a:r>
          </a:p>
        </p:txBody>
      </p:sp>
      <p:sp>
        <p:nvSpPr>
          <p:cNvPr id="4" name="Slide Number Placeholder 3"/>
          <p:cNvSpPr>
            <a:spLocks noGrp="1"/>
          </p:cNvSpPr>
          <p:nvPr>
            <p:ph type="sldNum" sz="quarter" idx="5"/>
          </p:nvPr>
        </p:nvSpPr>
        <p:spPr/>
        <p:txBody>
          <a:bodyPr/>
          <a:lstStyle/>
          <a:p>
            <a:fld id="{13C53DB3-B793-4F2A-86B3-0537A2B22664}" type="slidenum">
              <a:t>10</a:t>
            </a:fld>
            <a:endParaRPr lang="en-US"/>
          </a:p>
        </p:txBody>
      </p:sp>
    </p:spTree>
    <p:extLst>
      <p:ext uri="{BB962C8B-B14F-4D97-AF65-F5344CB8AC3E}">
        <p14:creationId xmlns:p14="http://schemas.microsoft.com/office/powerpoint/2010/main" val="1912871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Chaque groupe d’étudiants doit sélectionner trois technologies parmi celles étudiées durant les deux années de Bachelor, en veillant à couvrir plusieurs dimensions du projet. Les domaines concernés incluent le développement mobile (React Native, Flutter, Kotlin, Swift), le backend et les API (Node.js, Python avec Flask ou FastAPI, Java Spring Boot), les bases de données (MongoDB, Firebase, PostgreSQL), l’infrastructure et le déploiement (Docker, Kubernetes, VMware Sphere, AWS, Azure) ainsi que l’IA et le traitement de données (scikit-learn, TensorFlow, OpenAI API, HuggingFace).
Le choix des technologies ne doit pas être arbitraire. Les étudiants sont tenus de justifier leurs décisions dans le rapport technique, en expliquant la pertinence pédagogique et technique de chaque outil, leur compatibilité entre eux, ainsi que les contraintes de déploiement et de sécurité associées. Cette démarche vise à développer l’esprit critique et la capacité à argumenter des choix techniques.
À travers cet exercice, les étudiants apprennent à raisonner en termes d’architecture globale et à anticiper les impacts de leurs décisions sur la maintenance, l’évolutivité et la performance de leur application.
</a:t>
            </a:r>
          </a:p>
        </p:txBody>
      </p:sp>
      <p:sp>
        <p:nvSpPr>
          <p:cNvPr id="4" name="Slide Number Placeholder 3"/>
          <p:cNvSpPr>
            <a:spLocks noGrp="1"/>
          </p:cNvSpPr>
          <p:nvPr>
            <p:ph type="sldNum" sz="quarter" idx="5"/>
          </p:nvPr>
        </p:nvSpPr>
        <p:spPr/>
        <p:txBody>
          <a:bodyPr/>
          <a:lstStyle/>
          <a:p>
            <a:fld id="{13C53DB3-B793-4F2A-86B3-0537A2B22664}" type="slidenum">
              <a:t>11</a:t>
            </a:fld>
            <a:endParaRPr lang="en-US"/>
          </a:p>
        </p:txBody>
      </p:sp>
    </p:spTree>
    <p:extLst>
      <p:ext uri="{BB962C8B-B14F-4D97-AF65-F5344CB8AC3E}">
        <p14:creationId xmlns:p14="http://schemas.microsoft.com/office/powerpoint/2010/main" val="35753932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Modules fonctionnels de l’application
</a:t>
            </a:r>
          </a:p>
        </p:txBody>
      </p:sp>
      <p:sp>
        <p:nvSpPr>
          <p:cNvPr id="4" name="Slide Number Placeholder 3"/>
          <p:cNvSpPr>
            <a:spLocks noGrp="1"/>
          </p:cNvSpPr>
          <p:nvPr>
            <p:ph type="sldNum" sz="quarter" idx="5"/>
          </p:nvPr>
        </p:nvSpPr>
        <p:spPr/>
        <p:txBody>
          <a:bodyPr/>
          <a:lstStyle/>
          <a:p>
            <a:fld id="{13C53DB3-B793-4F2A-86B3-0537A2B22664}" type="slidenum">
              <a:t>12</a:t>
            </a:fld>
            <a:endParaRPr lang="en-US"/>
          </a:p>
        </p:txBody>
      </p:sp>
    </p:spTree>
    <p:extLst>
      <p:ext uri="{BB962C8B-B14F-4D97-AF65-F5344CB8AC3E}">
        <p14:creationId xmlns:p14="http://schemas.microsoft.com/office/powerpoint/2010/main" val="5469035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L’application développée dans le cadre du projet doit intégrer un ensemble de fonctionnalités principales. Le tableau de bord utilisateur constitue le point d’entrée de l’application et propose une vue synthétique des données agricoles, un historique des diagnostics réalisés et des alertes générées par l’IA. Ce module doit être pensé pour offrir une expérience utilisateur claire et intuitive.
Le module de diagnostic IA est au cœur de la valeur ajoutée du projet. Il permet la saisie manuelle ou automatisée de données, leur traitement par un modèle d’IA simple, puis l’affichage d’un résultat compréhensible, par exemple sous la forme d’une probabilité ou d’une recommandation. Une carte interactive permet également de localiser les parcelles et de visualiser les données par zone géographique.
Enfin, des fonctionnalités optionnelles peuvent être ajoutées, comme un espace communautaire favorisant les échanges entre utilisateurs ou un back-office d’administration permettant la gestion des utilisateurs, des données et des modèles d’IA. Ces modules complémentaires peuvent valoriser le projet s’ils sont cohérents et bien intégrés.
</a:t>
            </a:r>
          </a:p>
        </p:txBody>
      </p:sp>
      <p:sp>
        <p:nvSpPr>
          <p:cNvPr id="4" name="Slide Number Placeholder 3"/>
          <p:cNvSpPr>
            <a:spLocks noGrp="1"/>
          </p:cNvSpPr>
          <p:nvPr>
            <p:ph type="sldNum" sz="quarter" idx="5"/>
          </p:nvPr>
        </p:nvSpPr>
        <p:spPr/>
        <p:txBody>
          <a:bodyPr/>
          <a:lstStyle/>
          <a:p>
            <a:fld id="{13C53DB3-B793-4F2A-86B3-0537A2B22664}" type="slidenum">
              <a:t>13</a:t>
            </a:fld>
            <a:endParaRPr lang="en-US"/>
          </a:p>
        </p:txBody>
      </p:sp>
    </p:spTree>
    <p:extLst>
      <p:ext uri="{BB962C8B-B14F-4D97-AF65-F5344CB8AC3E}">
        <p14:creationId xmlns:p14="http://schemas.microsoft.com/office/powerpoint/2010/main" val="2670813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Schéma et logique d’architecture
</a:t>
            </a:r>
          </a:p>
        </p:txBody>
      </p:sp>
      <p:sp>
        <p:nvSpPr>
          <p:cNvPr id="4" name="Slide Number Placeholder 3"/>
          <p:cNvSpPr>
            <a:spLocks noGrp="1"/>
          </p:cNvSpPr>
          <p:nvPr>
            <p:ph type="sldNum" sz="quarter" idx="5"/>
          </p:nvPr>
        </p:nvSpPr>
        <p:spPr/>
        <p:txBody>
          <a:bodyPr/>
          <a:lstStyle/>
          <a:p>
            <a:fld id="{13C53DB3-B793-4F2A-86B3-0537A2B22664}" type="slidenum">
              <a:t>14</a:t>
            </a:fld>
            <a:endParaRPr lang="en-US"/>
          </a:p>
        </p:txBody>
      </p:sp>
    </p:spTree>
    <p:extLst>
      <p:ext uri="{BB962C8B-B14F-4D97-AF65-F5344CB8AC3E}">
        <p14:creationId xmlns:p14="http://schemas.microsoft.com/office/powerpoint/2010/main" val="2779775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L’architecture technique du projet doit illustrer de manière claire les échanges entre les différents composants du système. Des capteurs IoT, réels ou simulés, peuvent être utilisés pour envoyer des données vers un serveur local ou cloud. Ce serveur assure le traitement, le stockage des données et l’exécution des modèles d’IA.
L’application mobile interagit avec le backend via des API sécurisées, permettant l’accès aux fonctionnalités et aux données. L’IA peut être embarquée directement dans l’application ou déployée côté serveur, selon les choix techniques réalisés par l’équipe. L’ensemble doit être représenté sous la forme d’un schéma d’architecture réseau, qui fera partie des livrables attendus.
Cette architecture simplifiée permet aux étudiants de comprendre les principes fondamentaux des systèmes distribués, tout en restant adaptée à leur niveau de formation. Elle constitue un élément essentiel de l’évaluation du projet.
</a:t>
            </a:r>
          </a:p>
        </p:txBody>
      </p:sp>
      <p:sp>
        <p:nvSpPr>
          <p:cNvPr id="4" name="Slide Number Placeholder 3"/>
          <p:cNvSpPr>
            <a:spLocks noGrp="1"/>
          </p:cNvSpPr>
          <p:nvPr>
            <p:ph type="sldNum" sz="quarter" idx="5"/>
          </p:nvPr>
        </p:nvSpPr>
        <p:spPr/>
        <p:txBody>
          <a:bodyPr/>
          <a:lstStyle/>
          <a:p>
            <a:fld id="{13C53DB3-B793-4F2A-86B3-0537A2B22664}" type="slidenum">
              <a:t>15</a:t>
            </a:fld>
            <a:endParaRPr lang="en-US"/>
          </a:p>
        </p:txBody>
      </p:sp>
    </p:spTree>
    <p:extLst>
      <p:ext uri="{BB962C8B-B14F-4D97-AF65-F5344CB8AC3E}">
        <p14:creationId xmlns:p14="http://schemas.microsoft.com/office/powerpoint/2010/main" val="22930960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Mise en production sur le cloud
</a:t>
            </a:r>
          </a:p>
        </p:txBody>
      </p:sp>
      <p:sp>
        <p:nvSpPr>
          <p:cNvPr id="4" name="Slide Number Placeholder 3"/>
          <p:cNvSpPr>
            <a:spLocks noGrp="1"/>
          </p:cNvSpPr>
          <p:nvPr>
            <p:ph type="sldNum" sz="quarter" idx="5"/>
          </p:nvPr>
        </p:nvSpPr>
        <p:spPr/>
        <p:txBody>
          <a:bodyPr/>
          <a:lstStyle/>
          <a:p>
            <a:fld id="{13C53DB3-B793-4F2A-86B3-0537A2B22664}" type="slidenum">
              <a:t>16</a:t>
            </a:fld>
            <a:endParaRPr lang="en-US"/>
          </a:p>
        </p:txBody>
      </p:sp>
    </p:spTree>
    <p:extLst>
      <p:ext uri="{BB962C8B-B14F-4D97-AF65-F5344CB8AC3E}">
        <p14:creationId xmlns:p14="http://schemas.microsoft.com/office/powerpoint/2010/main" val="23695436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Le déploiement de l’application sur une infrastructure cloud est une étape clé du projet. Les étudiants peuvent s’appuyer sur des plateformes telles qu’AWS, Azure ou VMware Sphere pour héberger leur solution. Ils doivent configurer les environnements nécessaires, gérer les accès et assurer un fonctionnement stable de l’application.
Le projet peut être rendu accessible publiquement ou via un VPN, en fonction des choix techniques et des contraintes de sécurité identifiées. Cette phase permet aux étudiants de se familiariser avec les notions de mise en production, de gestion des environnements et de supervision.
Le déploiement est également l’occasion de réfléchir aux problématiques de sécurité, de protection des données et de fiabilité du système. Ces éléments doivent être pris en compte et documentés dans le cadre du projet.
</a:t>
            </a:r>
          </a:p>
        </p:txBody>
      </p:sp>
      <p:sp>
        <p:nvSpPr>
          <p:cNvPr id="4" name="Slide Number Placeholder 3"/>
          <p:cNvSpPr>
            <a:spLocks noGrp="1"/>
          </p:cNvSpPr>
          <p:nvPr>
            <p:ph type="sldNum" sz="quarter" idx="5"/>
          </p:nvPr>
        </p:nvSpPr>
        <p:spPr/>
        <p:txBody>
          <a:bodyPr/>
          <a:lstStyle/>
          <a:p>
            <a:fld id="{13C53DB3-B793-4F2A-86B3-0537A2B22664}" type="slidenum">
              <a:t>17</a:t>
            </a:fld>
            <a:endParaRPr lang="en-US"/>
          </a:p>
        </p:txBody>
      </p:sp>
    </p:spTree>
    <p:extLst>
      <p:ext uri="{BB962C8B-B14F-4D97-AF65-F5344CB8AC3E}">
        <p14:creationId xmlns:p14="http://schemas.microsoft.com/office/powerpoint/2010/main" val="377393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Éléments à fournir en fin de projet
</a:t>
            </a:r>
          </a:p>
        </p:txBody>
      </p:sp>
      <p:sp>
        <p:nvSpPr>
          <p:cNvPr id="4" name="Slide Number Placeholder 3"/>
          <p:cNvSpPr>
            <a:spLocks noGrp="1"/>
          </p:cNvSpPr>
          <p:nvPr>
            <p:ph type="sldNum" sz="quarter" idx="5"/>
          </p:nvPr>
        </p:nvSpPr>
        <p:spPr/>
        <p:txBody>
          <a:bodyPr/>
          <a:lstStyle/>
          <a:p>
            <a:fld id="{13C53DB3-B793-4F2A-86B3-0537A2B22664}" type="slidenum">
              <a:t>18</a:t>
            </a:fld>
            <a:endParaRPr lang="en-US"/>
          </a:p>
        </p:txBody>
      </p:sp>
    </p:spTree>
    <p:extLst>
      <p:ext uri="{BB962C8B-B14F-4D97-AF65-F5344CB8AC3E}">
        <p14:creationId xmlns:p14="http://schemas.microsoft.com/office/powerpoint/2010/main" val="382035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À l’issue du projet, plusieurs livrables sont attendus. Le principal est un prototype d’application mobile fonctionnelle, illustrant l’ensemble des choix techniques et fonctionnels réalisés par l’équipe. Ce prototype doit être accompagné d’un schéma d’architecture réseau clair et compréhensible.
Les étudiants doivent également fournir le code source du projet, hébergé sur un dépôt Git, ainsi qu’une documentation technique complète. Cette documentation doit détailler l’architecture, les technologies utilisées, les choix réalisés et les éventuelles difficultés rencontrées.
Enfin, le projet donne lieu à une soutenance orale d’une durée de 20 minutes. Cette présentation permet aux étudiants de valoriser leur travail, d’expliquer leur démarche et de démontrer leur maîtrise des aspects techniques et conceptuels du projet.
</a:t>
            </a:r>
          </a:p>
        </p:txBody>
      </p:sp>
      <p:sp>
        <p:nvSpPr>
          <p:cNvPr id="4" name="Slide Number Placeholder 3"/>
          <p:cNvSpPr>
            <a:spLocks noGrp="1"/>
          </p:cNvSpPr>
          <p:nvPr>
            <p:ph type="sldNum" sz="quarter" idx="5"/>
          </p:nvPr>
        </p:nvSpPr>
        <p:spPr/>
        <p:txBody>
          <a:bodyPr/>
          <a:lstStyle/>
          <a:p>
            <a:fld id="{13C53DB3-B793-4F2A-86B3-0537A2B22664}" type="slidenum">
              <a:t>19</a:t>
            </a:fld>
            <a:endParaRPr lang="en-US"/>
          </a:p>
        </p:txBody>
      </p:sp>
    </p:spTree>
    <p:extLst>
      <p:ext uri="{BB962C8B-B14F-4D97-AF65-F5344CB8AC3E}">
        <p14:creationId xmlns:p14="http://schemas.microsoft.com/office/powerpoint/2010/main" val="4201423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Modalités et axes d’évaluation
</a:t>
            </a:r>
          </a:p>
        </p:txBody>
      </p:sp>
      <p:sp>
        <p:nvSpPr>
          <p:cNvPr id="4" name="Slide Number Placeholder 3"/>
          <p:cNvSpPr>
            <a:spLocks noGrp="1"/>
          </p:cNvSpPr>
          <p:nvPr>
            <p:ph type="sldNum" sz="quarter" idx="5"/>
          </p:nvPr>
        </p:nvSpPr>
        <p:spPr/>
        <p:txBody>
          <a:bodyPr/>
          <a:lstStyle/>
          <a:p>
            <a:fld id="{13C53DB3-B793-4F2A-86B3-0537A2B22664}" type="slidenum">
              <a:t>20</a:t>
            </a:fld>
            <a:endParaRPr lang="en-US"/>
          </a:p>
        </p:txBody>
      </p:sp>
    </p:spTree>
    <p:extLst>
      <p:ext uri="{BB962C8B-B14F-4D97-AF65-F5344CB8AC3E}">
        <p14:creationId xmlns:p14="http://schemas.microsoft.com/office/powerpoint/2010/main" val="4287394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Cette diapositive fait référence aux informations du fichier suivant : https://emineoeducation-my.sharepoint.com/personal/patricia_gauthier_supdevinci_fr/_layouts/15/Doc.aspx?sourcedoc=%7B87A22F0D-52D9-4EDD-9BD6-17FB76D7C074%7D&amp;file=CDC%20projet%20d%27%C3%A9tudes%20Bachelor%202%2025-26.docx&amp;action=default&amp;mobileredirect=true
L’évaluation du projet repose sur plusieurs critères complémentaires. La pertinence de la solution proposée et la cohérence des technologies choisies constituent un premier axe d’analyse. Les évaluateurs s’intéressent également à la qualité du développement, à la structure du code, à l’architecture globale et aux aspects de sécurité.
Les fonctionnalités effectivement réalisées et l’expérience utilisateur offerte par l’application sont également prises en compte. L’intégration de l’intelligence artificielle et du cloud, même à un niveau simple, doit être pertinente et fonctionnelle. Enfin, la qualité du rapport écrit et de la soutenance orale joue un rôle important dans l’évaluation finale.
Ces critères visent à apprécier à la fois les compétences techniques, la capacité de travail en équipe et les qualités de communication des étudiants, dans une logique de préparation au monde professionnel.
</a:t>
            </a:r>
          </a:p>
        </p:txBody>
      </p:sp>
      <p:sp>
        <p:nvSpPr>
          <p:cNvPr id="4" name="Slide Number Placeholder 3"/>
          <p:cNvSpPr>
            <a:spLocks noGrp="1"/>
          </p:cNvSpPr>
          <p:nvPr>
            <p:ph type="sldNum" sz="quarter" idx="5"/>
          </p:nvPr>
        </p:nvSpPr>
        <p:spPr/>
        <p:txBody>
          <a:bodyPr/>
          <a:lstStyle/>
          <a:p>
            <a:fld id="{13C53DB3-B793-4F2A-86B3-0537A2B22664}" type="slidenum">
              <a:t>21</a:t>
            </a:fld>
            <a:endParaRPr lang="en-US"/>
          </a:p>
        </p:txBody>
      </p:sp>
    </p:spTree>
    <p:extLst>
      <p:ext uri="{BB962C8B-B14F-4D97-AF65-F5344CB8AC3E}">
        <p14:creationId xmlns:p14="http://schemas.microsoft.com/office/powerpoint/2010/main" val="19269822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re avec imag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rtlCol="0" anchor="t">
            <a:normAutofit/>
          </a:bodyPr>
          <a:lstStyle>
            <a:lvl1pPr>
              <a:defRPr sz="6000"/>
            </a:lvl1pPr>
          </a:lstStyle>
          <a:p>
            <a:pPr rtl="0"/>
            <a:r>
              <a:rPr lang="fr"/>
              <a:t>Modifiez le style du titre</a:t>
            </a:r>
            <a:endParaRPr lang="en-US"/>
          </a:p>
        </p:txBody>
      </p:sp>
      <p:sp>
        <p:nvSpPr>
          <p:cNvPr id="3" name="Espace réservé du texte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rtlCol="0"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fr"/>
              <a:t>Modifiez les styles du texte</a:t>
            </a:r>
          </a:p>
        </p:txBody>
      </p:sp>
      <p:sp>
        <p:nvSpPr>
          <p:cNvPr id="5" name="Espace réservé du pied de page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rtlCol="0"/>
          <a:lstStyle/>
          <a:p>
            <a:pPr rtl="0"/>
            <a:fld id="{DD84031F-D6BF-4677-B12E-7D8B88BA70F7}" type="slidenum">
              <a:rPr lang="en-US" smtClean="0"/>
              <a:t>‹N°›</a:t>
            </a:fld>
            <a:endParaRPr lang="en-US"/>
          </a:p>
        </p:txBody>
      </p:sp>
      <p:sp>
        <p:nvSpPr>
          <p:cNvPr id="9" name="Espace réservé d’image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cxnSp>
        <p:nvCxnSpPr>
          <p:cNvPr id="10" name="Connecteur droit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Connecteur droit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061213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u">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rtlCol="0" anchor="b"/>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143108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re avec image 2">
    <p:bg>
      <p:bgRef idx="1001">
        <a:schemeClr val="bg1"/>
      </p:bgRef>
    </p:bg>
    <p:spTree>
      <p:nvGrpSpPr>
        <p:cNvPr id="1" name=""/>
        <p:cNvGrpSpPr/>
        <p:nvPr/>
      </p:nvGrpSpPr>
      <p:grpSpPr>
        <a:xfrm>
          <a:off x="0" y="0"/>
          <a:ext cx="0" cy="0"/>
          <a:chOff x="0" y="0"/>
          <a:chExt cx="0" cy="0"/>
        </a:xfrm>
      </p:grpSpPr>
      <p:sp>
        <p:nvSpPr>
          <p:cNvPr id="11" name="Espace réservé d’image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rtlCol="0">
            <a:noAutofit/>
          </a:bodyPr>
          <a:lstStyle>
            <a:lvl1pPr marL="0" indent="0">
              <a:buNone/>
              <a:defRPr/>
            </a:lvl1pPr>
          </a:lstStyle>
          <a:p>
            <a:pPr rtl="0"/>
            <a:r>
              <a:rPr lang="fr"/>
              <a:t> </a:t>
            </a:r>
          </a:p>
        </p:txBody>
      </p:sp>
      <p:sp>
        <p:nvSpPr>
          <p:cNvPr id="2" name="Titr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rtlCol="0" anchor="t">
            <a:normAutofit/>
          </a:bodyPr>
          <a:lstStyle>
            <a:lvl1pPr>
              <a:defRPr sz="4400"/>
            </a:lvl1pPr>
          </a:lstStyle>
          <a:p>
            <a:pPr rtl="0"/>
            <a:r>
              <a:rPr lang="fr"/>
              <a:t>Modifiez le style du titre</a:t>
            </a:r>
            <a:endParaRPr lang="en-US"/>
          </a:p>
        </p:txBody>
      </p:sp>
      <p:sp>
        <p:nvSpPr>
          <p:cNvPr id="3" name="Espace réservé du texte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rtlCol="0"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fr"/>
              <a:t>Modifiez les styles du texte</a:t>
            </a:r>
          </a:p>
        </p:txBody>
      </p:sp>
      <p:sp>
        <p:nvSpPr>
          <p:cNvPr id="5" name="Espace réservé du pied de page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rtlCol="0"/>
          <a:lstStyle>
            <a:lvl1pPr>
              <a:defRPr>
                <a:solidFill>
                  <a:schemeClr val="bg1">
                    <a:alpha val="60000"/>
                  </a:schemeClr>
                </a:solidFill>
                <a:effectLst>
                  <a:outerShdw blurRad="38100" dist="38100" dir="2700000" algn="tl">
                    <a:srgbClr val="000000">
                      <a:alpha val="43137"/>
                    </a:srgbClr>
                  </a:outerShdw>
                </a:effectLst>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40CC541E-3AF5-9564-CE04-E4B86459DBE0}"/>
              </a:ext>
            </a:extLst>
          </p:cNvPr>
          <p:cNvSpPr>
            <a:spLocks noGrp="1"/>
          </p:cNvSpPr>
          <p:nvPr>
            <p:ph type="dt" sz="half" idx="10"/>
          </p:nvPr>
        </p:nvSpPr>
        <p:spPr/>
        <p:txBody>
          <a:bodyPr rtlCol="0"/>
          <a:lstStyle>
            <a:lvl1pPr>
              <a:defRPr>
                <a:solidFill>
                  <a:schemeClr val="bg1">
                    <a:alpha val="60000"/>
                  </a:schemeClr>
                </a:solidFill>
                <a:effectLst>
                  <a:outerShdw blurRad="38100" dist="38100" dir="2700000" algn="tl">
                    <a:srgbClr val="000000">
                      <a:alpha val="43137"/>
                    </a:srgbClr>
                  </a:outerShdw>
                </a:effectLst>
              </a:defRPr>
            </a:lvl1pPr>
          </a:lstStyle>
          <a:p>
            <a:pPr rtl="0"/>
            <a:r>
              <a:rPr lang="en-US"/>
              <a:t>4/8/2025</a:t>
            </a:r>
          </a:p>
        </p:txBody>
      </p:sp>
      <p:sp>
        <p:nvSpPr>
          <p:cNvPr id="6" name="Espace réservé du numéro de diapositive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rtlCol="0"/>
          <a:lstStyle>
            <a:lvl1pPr>
              <a:defRPr>
                <a:solidFill>
                  <a:schemeClr val="bg1">
                    <a:alpha val="60000"/>
                  </a:schemeClr>
                </a:solidFill>
                <a:effectLst>
                  <a:outerShdw blurRad="38100" dist="38100" dir="2700000" algn="tl">
                    <a:srgbClr val="000000">
                      <a:alpha val="43137"/>
                    </a:srgbClr>
                  </a:outerShdw>
                </a:effectLst>
              </a:defRPr>
            </a:lvl1pPr>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02280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re avec image 3">
    <p:bg>
      <p:bgRef idx="1001">
        <a:schemeClr val="bg1"/>
      </p:bgRef>
    </p:bg>
    <p:spTree>
      <p:nvGrpSpPr>
        <p:cNvPr id="1" name=""/>
        <p:cNvGrpSpPr/>
        <p:nvPr/>
      </p:nvGrpSpPr>
      <p:grpSpPr>
        <a:xfrm>
          <a:off x="0" y="0"/>
          <a:ext cx="0" cy="0"/>
          <a:chOff x="0" y="0"/>
          <a:chExt cx="0" cy="0"/>
        </a:xfrm>
      </p:grpSpPr>
      <p:cxnSp>
        <p:nvCxnSpPr>
          <p:cNvPr id="7" name="Connecteur droit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r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rtlCol="0" anchor="t">
            <a:normAutofit/>
          </a:bodyPr>
          <a:lstStyle>
            <a:lvl1pPr>
              <a:defRPr sz="4400"/>
            </a:lvl1pPr>
          </a:lstStyle>
          <a:p>
            <a:pPr rtl="0"/>
            <a:r>
              <a:rPr lang="fr"/>
              <a:t>Modifiez le style du titre</a:t>
            </a:r>
            <a:endParaRPr lang="en-US"/>
          </a:p>
        </p:txBody>
      </p:sp>
      <p:sp>
        <p:nvSpPr>
          <p:cNvPr id="9" name="Espace réservé d’image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texte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rtlCol="0"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fr"/>
              <a:t>Modifiez les styles du texte</a:t>
            </a:r>
          </a:p>
        </p:txBody>
      </p:sp>
      <p:sp>
        <p:nvSpPr>
          <p:cNvPr id="11" name="Espace réservé du pied de page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rtlCol="0"/>
          <a:lstStyle/>
          <a:p>
            <a:pPr rtl="0"/>
            <a:r>
              <a:rPr lang="fr"/>
              <a:t>Exemple de Texte de Pied de page</a:t>
            </a:r>
          </a:p>
        </p:txBody>
      </p:sp>
      <p:sp>
        <p:nvSpPr>
          <p:cNvPr id="10" name="Espace réservé de la date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rtlCol="0"/>
          <a:lstStyle/>
          <a:p>
            <a:pPr rtl="0"/>
            <a:r>
              <a:rPr lang="en-US"/>
              <a:t>4/8/2025</a:t>
            </a:r>
          </a:p>
        </p:txBody>
      </p:sp>
      <p:sp>
        <p:nvSpPr>
          <p:cNvPr id="12" name="Espace réservé du numéro de diapositive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156107907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re avec image 4">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rtlCol="0" anchor="b">
            <a:normAutofit/>
          </a:bodyPr>
          <a:lstStyle>
            <a:lvl1pPr>
              <a:defRPr sz="4800">
                <a:solidFill>
                  <a:schemeClr val="tx1"/>
                </a:solidFill>
              </a:defRPr>
            </a:lvl1pPr>
          </a:lstStyle>
          <a:p>
            <a:pPr rtl="0"/>
            <a:r>
              <a:rPr lang="fr"/>
              <a:t>Modifiez le style du titre</a:t>
            </a:r>
            <a:endParaRPr lang="en-US"/>
          </a:p>
        </p:txBody>
      </p:sp>
      <p:sp>
        <p:nvSpPr>
          <p:cNvPr id="9" name="Espace réservé d’image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texte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rtlCol="0"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fr"/>
              <a:t>Modifiez les styles du texte</a:t>
            </a:r>
          </a:p>
        </p:txBody>
      </p:sp>
      <p:sp>
        <p:nvSpPr>
          <p:cNvPr id="8" name="Espace réservé du pied de page 7">
            <a:extLst>
              <a:ext uri="{FF2B5EF4-FFF2-40B4-BE49-F238E27FC236}">
                <a16:creationId xmlns:a16="http://schemas.microsoft.com/office/drawing/2014/main" id="{3F256503-7989-932D-DE04-B424AC0B97DF}"/>
              </a:ext>
            </a:extLst>
          </p:cNvPr>
          <p:cNvSpPr>
            <a:spLocks noGrp="1"/>
          </p:cNvSpPr>
          <p:nvPr>
            <p:ph type="ftr" sz="quarter" idx="15"/>
          </p:nvPr>
        </p:nvSpPr>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623E99C9-C336-E83E-56A6-D68659547CAF}"/>
              </a:ext>
            </a:extLst>
          </p:cNvPr>
          <p:cNvSpPr>
            <a:spLocks noGrp="1"/>
          </p:cNvSpPr>
          <p:nvPr>
            <p:ph type="dt" sz="half" idx="14"/>
          </p:nvPr>
        </p:nvSpPr>
        <p:spPr/>
        <p:txBody>
          <a:bodyPr rtlCol="0"/>
          <a:lstStyle/>
          <a:p>
            <a:pPr rtl="0"/>
            <a:r>
              <a:rPr lang="en-US"/>
              <a:t>4/8/2025</a:t>
            </a:r>
          </a:p>
        </p:txBody>
      </p:sp>
      <p:sp>
        <p:nvSpPr>
          <p:cNvPr id="10" name="Espace réservé du numéro de diapositive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88117360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r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rtl="0"/>
            <a:r>
              <a:rPr lang="fr"/>
              <a:t>Modifiez le style du titre</a:t>
            </a:r>
            <a:endParaRPr lang="en-US"/>
          </a:p>
        </p:txBody>
      </p:sp>
      <p:sp>
        <p:nvSpPr>
          <p:cNvPr id="3" name="Sous-titr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rtl="0"/>
            <a:r>
              <a:rPr lang="fr"/>
              <a:t>Modifiez le style des sous-titres du masque</a:t>
            </a:r>
            <a:endParaRPr lang="en-US"/>
          </a:p>
        </p:txBody>
      </p:sp>
      <p:sp>
        <p:nvSpPr>
          <p:cNvPr id="5" name="Espace réservé du pied de page 4">
            <a:extLst>
              <a:ext uri="{FF2B5EF4-FFF2-40B4-BE49-F238E27FC236}">
                <a16:creationId xmlns:a16="http://schemas.microsoft.com/office/drawing/2014/main" id="{822DDD77-F8A9-7EC7-8615-6A38937CE728}"/>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98AB215-86A6-6EC5-BC27-7962FA84A1AE}"/>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9" name="Connecteur droit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468294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re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rtl="0"/>
            <a:r>
              <a:rPr lang="fr"/>
              <a:t>Modifiez le style du titre</a:t>
            </a:r>
            <a:endParaRPr lang="en-US"/>
          </a:p>
        </p:txBody>
      </p:sp>
      <p:sp>
        <p:nvSpPr>
          <p:cNvPr id="3" name="Sous-titr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rtl="0"/>
            <a:r>
              <a:rPr lang="fr"/>
              <a:t>Modifiez le style des sous-titres du masque</a:t>
            </a:r>
            <a:endParaRPr lang="en-US"/>
          </a:p>
        </p:txBody>
      </p:sp>
      <p:sp>
        <p:nvSpPr>
          <p:cNvPr id="5" name="Espace réservé du pied de page 4">
            <a:extLst>
              <a:ext uri="{FF2B5EF4-FFF2-40B4-BE49-F238E27FC236}">
                <a16:creationId xmlns:a16="http://schemas.microsoft.com/office/drawing/2014/main" id="{822DDD77-F8A9-7EC7-8615-6A38937CE728}"/>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98AB215-86A6-6EC5-BC27-7962FA84A1AE}"/>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12" name="Connecteur droit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289922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re 3">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rtl="0"/>
            <a:r>
              <a:rPr lang="fr"/>
              <a:t>Modifiez le style du titre</a:t>
            </a:r>
            <a:endParaRPr lang="en-US"/>
          </a:p>
        </p:txBody>
      </p:sp>
      <p:sp>
        <p:nvSpPr>
          <p:cNvPr id="3" name="Sous-titr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rtl="0"/>
            <a:r>
              <a:rPr lang="fr"/>
              <a:t>Modifiez le style des sous-titres du masque</a:t>
            </a:r>
            <a:endParaRPr lang="en-US"/>
          </a:p>
        </p:txBody>
      </p:sp>
      <p:sp>
        <p:nvSpPr>
          <p:cNvPr id="5" name="Espace réservé du pied de page 4">
            <a:extLst>
              <a:ext uri="{FF2B5EF4-FFF2-40B4-BE49-F238E27FC236}">
                <a16:creationId xmlns:a16="http://schemas.microsoft.com/office/drawing/2014/main" id="{822DDD77-F8A9-7EC7-8615-6A38937CE728}"/>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098AB215-86A6-6EC5-BC27-7962FA84A1AE}"/>
              </a:ext>
            </a:extLst>
          </p:cNvPr>
          <p:cNvSpPr>
            <a:spLocks noGrp="1"/>
          </p:cNvSpPr>
          <p:nvPr>
            <p:ph type="dt" sz="half" idx="10"/>
          </p:nvPr>
        </p:nvSpPr>
        <p:spPr/>
        <p:txBody>
          <a:bodyPr rtlCol="0"/>
          <a:lstStyle>
            <a:lvl1pPr>
              <a:defRPr>
                <a:solidFill>
                  <a:schemeClr val="tx1"/>
                </a:solidFill>
              </a:defRPr>
            </a:lvl1pPr>
          </a:lstStyle>
          <a:p>
            <a:pPr rtl="0"/>
            <a:r>
              <a:rPr lang="en-US"/>
              <a:t>4/8/2025</a:t>
            </a:r>
          </a:p>
        </p:txBody>
      </p:sp>
      <p:sp>
        <p:nvSpPr>
          <p:cNvPr id="6" name="Espace réservé du numéro de diapositive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rtlCol="0"/>
          <a:lstStyle>
            <a:lvl1pPr>
              <a:defRPr>
                <a:solidFill>
                  <a:schemeClr val="tx1"/>
                </a:solidFill>
              </a:defRPr>
            </a:lvl1pPr>
          </a:lstStyle>
          <a:p>
            <a:pPr rtl="0"/>
            <a:fld id="{DD84031F-D6BF-4677-B12E-7D8B88BA70F7}" type="slidenum">
              <a:rPr lang="en-US" smtClean="0"/>
              <a:t>‹N°›</a:t>
            </a:fld>
            <a:endParaRPr lang="en-US"/>
          </a:p>
        </p:txBody>
      </p:sp>
      <p:cxnSp>
        <p:nvCxnSpPr>
          <p:cNvPr id="11" name="Connecteur droit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Connecteur droit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352032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En-tête de section">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rtlCol="0" anchor="b">
            <a:normAutofit/>
          </a:bodyPr>
          <a:lstStyle>
            <a:lvl1pPr>
              <a:defRPr sz="6600">
                <a:solidFill>
                  <a:schemeClr val="tx1"/>
                </a:solidFill>
              </a:defRPr>
            </a:lvl1pPr>
          </a:lstStyle>
          <a:p>
            <a:pPr rtl="0"/>
            <a:r>
              <a:rPr lang="fr"/>
              <a:t>Modifiez le style du titre</a:t>
            </a:r>
            <a:endParaRPr lang="en-US"/>
          </a:p>
        </p:txBody>
      </p:sp>
      <p:sp>
        <p:nvSpPr>
          <p:cNvPr id="5" name="Espace réservé du pied de page 4">
            <a:extLst>
              <a:ext uri="{FF2B5EF4-FFF2-40B4-BE49-F238E27FC236}">
                <a16:creationId xmlns:a16="http://schemas.microsoft.com/office/drawing/2014/main" id="{9F1849E7-8E94-3B02-239C-AAB481596BFD}"/>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8F845713-EE4C-7615-B812-531C14CF0CA2}"/>
              </a:ext>
            </a:extLst>
          </p:cNvPr>
          <p:cNvSpPr>
            <a:spLocks noGrp="1"/>
          </p:cNvSpPr>
          <p:nvPr>
            <p:ph type="dt" sz="half" idx="10"/>
          </p:nvPr>
        </p:nvSpPr>
        <p:spPr/>
        <p:txBody>
          <a:bodyPr rtlCol="0"/>
          <a:lstStyle>
            <a:lvl1pPr>
              <a:defRPr>
                <a:solidFill>
                  <a:schemeClr val="tx1"/>
                </a:solidFill>
              </a:defRPr>
            </a:lvl1pPr>
          </a:lstStyle>
          <a:p>
            <a:pPr rtl="0"/>
            <a:r>
              <a:rPr lang="en-US"/>
              <a:t>4/8/2025</a:t>
            </a:r>
          </a:p>
        </p:txBody>
      </p:sp>
      <p:sp>
        <p:nvSpPr>
          <p:cNvPr id="6" name="Espace réservé du numéro de diapositive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rtlCol="0"/>
          <a:lstStyle>
            <a:lvl1pPr>
              <a:defRPr>
                <a:solidFill>
                  <a:schemeClr val="tx1"/>
                </a:solidFill>
              </a:defRPr>
            </a:lvl1pPr>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964271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Ordre du jour">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rtlCol="0" anchor="t">
            <a:normAutofit/>
          </a:bodyPr>
          <a:lstStyle>
            <a:lvl1pPr>
              <a:defRPr sz="6600">
                <a:solidFill>
                  <a:schemeClr val="accent1"/>
                </a:solidFill>
              </a:defRPr>
            </a:lvl1pPr>
          </a:lstStyle>
          <a:p>
            <a:pPr rtl="0"/>
            <a:r>
              <a:rPr lang="fr"/>
              <a:t>Modifiez le style du titre</a:t>
            </a:r>
            <a:endParaRPr lang="en-US"/>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122795783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Ordre du jour avec imag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rtlCol="0" anchor="t">
            <a:normAutofit/>
          </a:bodyPr>
          <a:lstStyle>
            <a:lvl1pPr>
              <a:defRPr sz="6600">
                <a:solidFill>
                  <a:schemeClr val="accent1"/>
                </a:solidFill>
              </a:defRPr>
            </a:lvl1pPr>
          </a:lstStyle>
          <a:p>
            <a:pPr rtl="0"/>
            <a:r>
              <a:rPr lang="fr"/>
              <a:t>Modifiez le style du titre</a:t>
            </a:r>
            <a:endParaRPr lang="en-US"/>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rtlCol="0"/>
          <a:lstStyle/>
          <a:p>
            <a:pPr rtl="0"/>
            <a:fld id="{DD84031F-D6BF-4677-B12E-7D8B88BA70F7}" type="slidenum">
              <a:rPr lang="en-US" smtClean="0"/>
              <a:t>‹N°›</a:t>
            </a:fld>
            <a:endParaRPr lang="en-US"/>
          </a:p>
        </p:txBody>
      </p:sp>
      <p:sp>
        <p:nvSpPr>
          <p:cNvPr id="8" name="Espace réservé d’image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cxnSp>
        <p:nvCxnSpPr>
          <p:cNvPr id="9" name="Connecteur droit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291929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rdre du jour avec Image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rtlCol="0" anchor="t">
            <a:normAutofit/>
          </a:bodyPr>
          <a:lstStyle>
            <a:lvl1pPr>
              <a:defRPr sz="5400">
                <a:solidFill>
                  <a:schemeClr val="accent1"/>
                </a:solidFill>
              </a:defRPr>
            </a:lvl1pPr>
          </a:lstStyle>
          <a:p>
            <a:pPr rtl="0"/>
            <a:r>
              <a:rPr lang="fr"/>
              <a:t>Modifiez le style du titre</a:t>
            </a:r>
            <a:endParaRPr lang="en-US"/>
          </a:p>
        </p:txBody>
      </p:sp>
      <p:sp>
        <p:nvSpPr>
          <p:cNvPr id="8" name="Espace réservé d’image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7" name="Espace réservé du contenu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u pied de page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11" name="Connecteur droit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303521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u 2">
    <p:bg>
      <p:bgRef idx="1001">
        <a:schemeClr val="bg1"/>
      </p:bgRef>
    </p:bg>
    <p:spTree>
      <p:nvGrpSpPr>
        <p:cNvPr id="1" name=""/>
        <p:cNvGrpSpPr/>
        <p:nvPr/>
      </p:nvGrpSpPr>
      <p:grpSpPr>
        <a:xfrm>
          <a:off x="0" y="0"/>
          <a:ext cx="0" cy="0"/>
          <a:chOff x="0" y="0"/>
          <a:chExt cx="0" cy="0"/>
        </a:xfrm>
      </p:grpSpPr>
      <p:cxnSp>
        <p:nvCxnSpPr>
          <p:cNvPr id="7" name="Connecteur droit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rtlCol="0" anchor="b"/>
          <a:lstStyle>
            <a:lvl1pPr algn="ctr">
              <a:defRPr/>
            </a:lvl1pPr>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rtlCol="0"/>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264917780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u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rtlCol="0" anchor="t"/>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939288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u 4">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rtlCol="0" anchor="t"/>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838753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u 5">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rtlCol="0" anchor="t"/>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8601846"/>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u 6">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rtlCol="0" anchor="t"/>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385454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u 7">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rtlCol="0" anchor="t">
            <a:normAutofit/>
          </a:bodyPr>
          <a:lstStyle>
            <a:lvl1pPr>
              <a:defRPr sz="3600"/>
            </a:lvl1pPr>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0398482"/>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u avec imag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rtlCol="0"/>
          <a:lstStyle/>
          <a:p>
            <a:pPr rtl="0"/>
            <a:r>
              <a:rPr lang="fr"/>
              <a:t>Modifiez le style du titre</a:t>
            </a:r>
            <a:endParaRPr lang="en-US"/>
          </a:p>
        </p:txBody>
      </p:sp>
      <p:sp>
        <p:nvSpPr>
          <p:cNvPr id="34" name="Espace réservé d’image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0866653"/>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u avec Image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34" name="Espace réservé d’image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50599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u avec Image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rtlCol="0"/>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9072734"/>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u avec Image 4">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10" name="Espace réservé d’image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491297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u avec Image 5">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rtlCol="0"/>
          <a:lstStyle/>
          <a:p>
            <a:pPr rtl="0"/>
            <a:r>
              <a:rPr lang="fr"/>
              <a:t>Modifiez le style du titre</a:t>
            </a:r>
            <a:endParaRPr lang="en-US"/>
          </a:p>
        </p:txBody>
      </p:sp>
      <p:sp>
        <p:nvSpPr>
          <p:cNvPr id="9" name="Espace réservé d’image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727804"/>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u avec Image 6">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9" name="Espace réservé d’image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2964391"/>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u avec Image 7">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rtlCol="0" anchor="b"/>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407511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u avec Image 8">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rtlCol="0" anchor="b"/>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rtlCol="0"/>
          <a:lstStyle/>
          <a:p>
            <a:pPr rtl="0"/>
            <a:r>
              <a:rPr lang="fr"/>
              <a:t>Exemple de texte de pied de page</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017500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u avec image 9">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rtlCol="0"/>
          <a:lstStyle/>
          <a:p>
            <a:pPr rtl="0"/>
            <a:r>
              <a:rPr lang="fr"/>
              <a:t>Modifiez le style du titre</a:t>
            </a:r>
            <a:endParaRPr lang="en-US"/>
          </a:p>
        </p:txBody>
      </p:sp>
      <p:sp>
        <p:nvSpPr>
          <p:cNvPr id="14" name="Espace réservé d’image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18" name="Espace réservé du pied de page 17">
            <a:extLst>
              <a:ext uri="{FF2B5EF4-FFF2-40B4-BE49-F238E27FC236}">
                <a16:creationId xmlns:a16="http://schemas.microsoft.com/office/drawing/2014/main" id="{5C6323EE-3C7E-2716-8BD0-C89545F04FC6}"/>
              </a:ext>
            </a:extLst>
          </p:cNvPr>
          <p:cNvSpPr>
            <a:spLocks noGrp="1"/>
          </p:cNvSpPr>
          <p:nvPr>
            <p:ph type="ftr" sz="quarter" idx="15"/>
          </p:nvPr>
        </p:nvSpPr>
        <p:spPr/>
        <p:txBody>
          <a:bodyPr rtlCol="0"/>
          <a:lstStyle/>
          <a:p>
            <a:pPr rtl="0"/>
            <a:r>
              <a:rPr lang="fr"/>
              <a:t>Exemple de texte de pied de page</a:t>
            </a:r>
          </a:p>
        </p:txBody>
      </p:sp>
      <p:sp>
        <p:nvSpPr>
          <p:cNvPr id="17" name="Espace réservé de la date 16">
            <a:extLst>
              <a:ext uri="{FF2B5EF4-FFF2-40B4-BE49-F238E27FC236}">
                <a16:creationId xmlns:a16="http://schemas.microsoft.com/office/drawing/2014/main" id="{F01E841F-9F6D-0E74-84D5-4BA2AF78F5C2}"/>
              </a:ext>
            </a:extLst>
          </p:cNvPr>
          <p:cNvSpPr>
            <a:spLocks noGrp="1"/>
          </p:cNvSpPr>
          <p:nvPr>
            <p:ph type="dt" sz="half" idx="14"/>
          </p:nvPr>
        </p:nvSpPr>
        <p:spPr/>
        <p:txBody>
          <a:bodyPr rtlCol="0"/>
          <a:lstStyle/>
          <a:p>
            <a:pPr rtl="0"/>
            <a:r>
              <a:rPr lang="en-US"/>
              <a:t>4/8/2025</a:t>
            </a:r>
          </a:p>
        </p:txBody>
      </p:sp>
      <p:sp>
        <p:nvSpPr>
          <p:cNvPr id="19" name="Espace réservé du numéro de diapositive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9812291"/>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u avec image 10">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rtlCol="0"/>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7886694"/>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u avec image 11">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rtlCol="0"/>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rtlCol="0"/>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Connecteur droit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2966077"/>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u avec image 1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rtlCol="0"/>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rtlCol="0"/>
          <a:lstStyle/>
          <a:p>
            <a:pPr rtl="0"/>
            <a:r>
              <a:rPr lang="fr"/>
              <a:t>Exemple de texte de pied de page</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21677507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u avec image 1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rtlCol="0"/>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66189777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u avec image 14">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rtlCol="0"/>
          <a:lstStyle/>
          <a:p>
            <a:pPr rtl="0"/>
            <a:r>
              <a:rPr lang="fr"/>
              <a:t>Modifiez le style du titre</a:t>
            </a:r>
            <a:endParaRPr lang="en-US"/>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rtlCol="0"/>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10" name="Espace réservé d’image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rtlCol="0"/>
          <a:lstStyle>
            <a:lvl1pPr marL="0" indent="0">
              <a:buNone/>
              <a:defRPr/>
            </a:lvl1pPr>
          </a:lstStyle>
          <a:p>
            <a:pPr rtl="0"/>
            <a:r>
              <a:rPr lang="fr"/>
              <a:t> </a:t>
            </a:r>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1831481"/>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u avec image 15">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rtlCol="0" anchor="b"/>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9" name="Espace réservé du pied de page 8">
            <a:extLst>
              <a:ext uri="{FF2B5EF4-FFF2-40B4-BE49-F238E27FC236}">
                <a16:creationId xmlns:a16="http://schemas.microsoft.com/office/drawing/2014/main" id="{8BAA5E08-9FB8-6BC2-0794-A92E1336B939}"/>
              </a:ext>
            </a:extLst>
          </p:cNvPr>
          <p:cNvSpPr>
            <a:spLocks noGrp="1"/>
          </p:cNvSpPr>
          <p:nvPr>
            <p:ph type="ftr" sz="quarter" idx="15"/>
          </p:nvPr>
        </p:nvSpPr>
        <p:spPr/>
        <p:txBody>
          <a:bodyPr rtlCol="0"/>
          <a:lstStyle/>
          <a:p>
            <a:pPr rtl="0"/>
            <a:r>
              <a:rPr lang="fr"/>
              <a:t>Exemple de Texte de Pied de page</a:t>
            </a:r>
          </a:p>
        </p:txBody>
      </p:sp>
      <p:sp>
        <p:nvSpPr>
          <p:cNvPr id="8" name="Espace réservé de la date 7">
            <a:extLst>
              <a:ext uri="{FF2B5EF4-FFF2-40B4-BE49-F238E27FC236}">
                <a16:creationId xmlns:a16="http://schemas.microsoft.com/office/drawing/2014/main" id="{17819C0A-5C58-B9A1-EDD9-43A971A8DE10}"/>
              </a:ext>
            </a:extLst>
          </p:cNvPr>
          <p:cNvSpPr>
            <a:spLocks noGrp="1"/>
          </p:cNvSpPr>
          <p:nvPr>
            <p:ph type="dt" sz="half" idx="14"/>
          </p:nvPr>
        </p:nvSpPr>
        <p:spPr/>
        <p:txBody>
          <a:bodyPr rtlCol="0"/>
          <a:lstStyle/>
          <a:p>
            <a:pPr rtl="0"/>
            <a:r>
              <a:rPr lang="en-US"/>
              <a:t>4/8/2025</a:t>
            </a:r>
          </a:p>
        </p:txBody>
      </p:sp>
      <p:sp>
        <p:nvSpPr>
          <p:cNvPr id="11" name="Espace réservé du numéro de diapositive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620711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u avec image 16">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rtlCol="0"/>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EEF9179-12AA-40A3-63A0-84A6ED06611F}"/>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191147724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u avec image 17">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rtlCol="0"/>
          <a:lstStyle/>
          <a:p>
            <a:pPr rtl="0"/>
            <a:r>
              <a:rPr lang="fr"/>
              <a:t>Modifiez le style du titre</a:t>
            </a:r>
            <a:endParaRPr lang="en-US"/>
          </a:p>
        </p:txBody>
      </p:sp>
      <p:sp>
        <p:nvSpPr>
          <p:cNvPr id="10" name="Espace réservé d’image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rtlCol="0"/>
          <a:lstStyle>
            <a:lvl1pPr marL="0" indent="0">
              <a:buNone/>
              <a:defRPr/>
            </a:lvl1pPr>
          </a:lstStyle>
          <a:p>
            <a:pPr rtl="0"/>
            <a:r>
              <a:rPr lang="fr"/>
              <a:t> </a:t>
            </a:r>
          </a:p>
        </p:txBody>
      </p:sp>
      <p:sp>
        <p:nvSpPr>
          <p:cNvPr id="3" name="Espace réservé du contenu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11" name="Espace réservé du pied de page 10">
            <a:extLst>
              <a:ext uri="{FF2B5EF4-FFF2-40B4-BE49-F238E27FC236}">
                <a16:creationId xmlns:a16="http://schemas.microsoft.com/office/drawing/2014/main" id="{2354F31B-6E0C-9ACF-A3B4-2BE5DD2D21D0}"/>
              </a:ext>
            </a:extLst>
          </p:cNvPr>
          <p:cNvSpPr>
            <a:spLocks noGrp="1"/>
          </p:cNvSpPr>
          <p:nvPr>
            <p:ph type="ftr" sz="quarter" idx="15"/>
          </p:nvPr>
        </p:nvSpPr>
        <p:spPr/>
        <p:txBody>
          <a:bodyPr rtlCol="0"/>
          <a:lstStyle/>
          <a:p>
            <a:pPr rtl="0"/>
            <a:r>
              <a:rPr lang="fr"/>
              <a:t>Exemple de texte de pied de page</a:t>
            </a:r>
          </a:p>
        </p:txBody>
      </p:sp>
      <p:sp>
        <p:nvSpPr>
          <p:cNvPr id="9" name="Espace réservé de la date 8">
            <a:extLst>
              <a:ext uri="{FF2B5EF4-FFF2-40B4-BE49-F238E27FC236}">
                <a16:creationId xmlns:a16="http://schemas.microsoft.com/office/drawing/2014/main" id="{1D4992A1-A620-24C8-73C6-0C53DD6F3868}"/>
              </a:ext>
            </a:extLst>
          </p:cNvPr>
          <p:cNvSpPr>
            <a:spLocks noGrp="1"/>
          </p:cNvSpPr>
          <p:nvPr>
            <p:ph type="dt" sz="half" idx="14"/>
          </p:nvPr>
        </p:nvSpPr>
        <p:spPr/>
        <p:txBody>
          <a:bodyPr rtlCol="0"/>
          <a:lstStyle/>
          <a:p>
            <a:pPr rtl="0"/>
            <a:r>
              <a:rPr lang="en-US"/>
              <a:t>4/8/2025</a:t>
            </a:r>
          </a:p>
        </p:txBody>
      </p:sp>
      <p:sp>
        <p:nvSpPr>
          <p:cNvPr id="12" name="Espace réservé du numéro de diapositive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7" name="Connecteur droit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8917459"/>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ombre en grand">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rtlCol="0" anchor="ctr">
            <a:normAutofit/>
          </a:bodyPr>
          <a:lstStyle>
            <a:lvl1pPr algn="ctr">
              <a:defRPr sz="2800">
                <a:solidFill>
                  <a:schemeClr val="tx1"/>
                </a:solidFill>
                <a:latin typeface="+mj-lt"/>
              </a:defRPr>
            </a:lvl1pPr>
          </a:lstStyle>
          <a:p>
            <a:pPr rtl="0"/>
            <a:r>
              <a:rPr lang="fr"/>
              <a:t>Cliquez pour modifier le texte</a:t>
            </a:r>
          </a:p>
        </p:txBody>
      </p:sp>
      <p:sp>
        <p:nvSpPr>
          <p:cNvPr id="7" name="Espace réservé du contenu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rtlCol="0"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rtl="0"/>
            <a:r>
              <a:rPr lang="fr"/>
              <a:t>##%</a:t>
            </a:r>
          </a:p>
        </p:txBody>
      </p:sp>
      <p:sp>
        <p:nvSpPr>
          <p:cNvPr id="13" name="Espace réservé du pied de page 12">
            <a:extLst>
              <a:ext uri="{FF2B5EF4-FFF2-40B4-BE49-F238E27FC236}">
                <a16:creationId xmlns:a16="http://schemas.microsoft.com/office/drawing/2014/main" id="{FADD3D14-222C-BA8A-E4C0-8637820CBAB1}"/>
              </a:ext>
            </a:extLst>
          </p:cNvPr>
          <p:cNvSpPr>
            <a:spLocks noGrp="1"/>
          </p:cNvSpPr>
          <p:nvPr>
            <p:ph type="ftr" sz="quarter" idx="15"/>
          </p:nvPr>
        </p:nvSpPr>
        <p:spPr/>
        <p:txBody>
          <a:bodyPr rtlCol="0"/>
          <a:lstStyle/>
          <a:p>
            <a:pPr rtl="0"/>
            <a:r>
              <a:rPr lang="fr"/>
              <a:t>Exemple de texte de pied de page</a:t>
            </a:r>
          </a:p>
        </p:txBody>
      </p:sp>
      <p:sp>
        <p:nvSpPr>
          <p:cNvPr id="12" name="Espace réservé de la date 11">
            <a:extLst>
              <a:ext uri="{FF2B5EF4-FFF2-40B4-BE49-F238E27FC236}">
                <a16:creationId xmlns:a16="http://schemas.microsoft.com/office/drawing/2014/main" id="{7FEF00E3-D3E5-F5AF-F035-66A1547A0630}"/>
              </a:ext>
            </a:extLst>
          </p:cNvPr>
          <p:cNvSpPr>
            <a:spLocks noGrp="1"/>
          </p:cNvSpPr>
          <p:nvPr>
            <p:ph type="dt" sz="half" idx="14"/>
          </p:nvPr>
        </p:nvSpPr>
        <p:spPr/>
        <p:txBody>
          <a:bodyPr rtlCol="0"/>
          <a:lstStyle/>
          <a:p>
            <a:pPr rtl="0"/>
            <a:r>
              <a:rPr lang="en-US"/>
              <a:t>4/8/2025</a:t>
            </a:r>
          </a:p>
        </p:txBody>
      </p:sp>
      <p:sp>
        <p:nvSpPr>
          <p:cNvPr id="14" name="Espace réservé du numéro de diapositive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6" name="Connecteur droit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107027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ombre en grand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rtlCol="0" anchor="ctr">
            <a:normAutofit/>
          </a:bodyPr>
          <a:lstStyle>
            <a:lvl1pPr algn="ctr">
              <a:defRPr sz="2800">
                <a:solidFill>
                  <a:schemeClr val="tx1"/>
                </a:solidFill>
                <a:latin typeface="+mj-lt"/>
              </a:defRPr>
            </a:lvl1pPr>
          </a:lstStyle>
          <a:p>
            <a:pPr rtl="0"/>
            <a:r>
              <a:rPr lang="fr"/>
              <a:t>Cliquez pour modifier le texte</a:t>
            </a:r>
          </a:p>
        </p:txBody>
      </p:sp>
      <p:sp>
        <p:nvSpPr>
          <p:cNvPr id="7" name="Espace réservé du contenu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rtlCol="0"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rtl="0"/>
            <a:r>
              <a:rPr lang="fr"/>
              <a:t>##%</a:t>
            </a:r>
          </a:p>
        </p:txBody>
      </p:sp>
      <p:sp>
        <p:nvSpPr>
          <p:cNvPr id="10" name="Espace réservé du pied de page 9">
            <a:extLst>
              <a:ext uri="{FF2B5EF4-FFF2-40B4-BE49-F238E27FC236}">
                <a16:creationId xmlns:a16="http://schemas.microsoft.com/office/drawing/2014/main" id="{897B8847-6473-457E-E96C-6389E70595B5}"/>
              </a:ext>
            </a:extLst>
          </p:cNvPr>
          <p:cNvSpPr>
            <a:spLocks noGrp="1"/>
          </p:cNvSpPr>
          <p:nvPr>
            <p:ph type="ftr" sz="quarter" idx="15"/>
          </p:nvPr>
        </p:nvSpPr>
        <p:spPr/>
        <p:txBody>
          <a:bodyPr rtlCol="0"/>
          <a:lstStyle>
            <a:lvl1pPr>
              <a:defRPr>
                <a:solidFill>
                  <a:schemeClr val="tx1"/>
                </a:solidFill>
              </a:defRPr>
            </a:lvl1pPr>
          </a:lstStyle>
          <a:p>
            <a:pPr rtl="0"/>
            <a:r>
              <a:rPr lang="fr"/>
              <a:t>Exemple de Texte de Pied de page</a:t>
            </a:r>
          </a:p>
        </p:txBody>
      </p:sp>
      <p:sp>
        <p:nvSpPr>
          <p:cNvPr id="9" name="Espace réservé de la date 8">
            <a:extLst>
              <a:ext uri="{FF2B5EF4-FFF2-40B4-BE49-F238E27FC236}">
                <a16:creationId xmlns:a16="http://schemas.microsoft.com/office/drawing/2014/main" id="{397385FA-3FF0-FCCA-55E3-8E053BA2CA47}"/>
              </a:ext>
            </a:extLst>
          </p:cNvPr>
          <p:cNvSpPr>
            <a:spLocks noGrp="1"/>
          </p:cNvSpPr>
          <p:nvPr>
            <p:ph type="dt" sz="half" idx="14"/>
          </p:nvPr>
        </p:nvSpPr>
        <p:spPr/>
        <p:txBody>
          <a:bodyPr rtlCol="0"/>
          <a:lstStyle>
            <a:lvl1pPr>
              <a:defRPr>
                <a:solidFill>
                  <a:schemeClr val="tx1"/>
                </a:solidFill>
              </a:defRPr>
            </a:lvl1pPr>
          </a:lstStyle>
          <a:p>
            <a:pPr rtl="0"/>
            <a:r>
              <a:rPr lang="en-US"/>
              <a:t>4/8/2025</a:t>
            </a:r>
          </a:p>
        </p:txBody>
      </p:sp>
      <p:sp>
        <p:nvSpPr>
          <p:cNvPr id="11" name="Espace réservé du numéro de diapositive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rtlCol="0"/>
          <a:lstStyle>
            <a:lvl1pPr>
              <a:defRPr>
                <a:solidFill>
                  <a:schemeClr val="tx1"/>
                </a:solidFill>
              </a:defRPr>
            </a:lvl1pPr>
          </a:lstStyle>
          <a:p>
            <a:pPr rtl="0"/>
            <a:fld id="{DD84031F-D6BF-4677-B12E-7D8B88BA70F7}" type="slidenum">
              <a:rPr lang="en-US" smtClean="0"/>
              <a:t>‹N°›</a:t>
            </a:fld>
            <a:endParaRPr lang="en-US"/>
          </a:p>
        </p:txBody>
      </p:sp>
      <p:cxnSp>
        <p:nvCxnSpPr>
          <p:cNvPr id="6" name="Connecteur droit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0052203"/>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ombre en grand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rtl="0"/>
            <a:r>
              <a:rPr lang="fr"/>
              <a:t>Cliquez pour modifier le texte</a:t>
            </a:r>
          </a:p>
        </p:txBody>
      </p:sp>
      <p:sp>
        <p:nvSpPr>
          <p:cNvPr id="7" name="Espace réservé du contenu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rtlCol="0"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rtl="0"/>
            <a:r>
              <a:rPr lang="fr"/>
              <a:t>##%</a:t>
            </a:r>
          </a:p>
        </p:txBody>
      </p:sp>
      <p:sp>
        <p:nvSpPr>
          <p:cNvPr id="11" name="Espace réservé du pied de page 10">
            <a:extLst>
              <a:ext uri="{FF2B5EF4-FFF2-40B4-BE49-F238E27FC236}">
                <a16:creationId xmlns:a16="http://schemas.microsoft.com/office/drawing/2014/main" id="{446459C9-E9DA-926C-F0C0-5EEDE6960776}"/>
              </a:ext>
            </a:extLst>
          </p:cNvPr>
          <p:cNvSpPr>
            <a:spLocks noGrp="1"/>
          </p:cNvSpPr>
          <p:nvPr>
            <p:ph type="ftr" sz="quarter" idx="15"/>
          </p:nvPr>
        </p:nvSpPr>
        <p:spPr/>
        <p:txBody>
          <a:bodyPr rtlCol="0"/>
          <a:lstStyle/>
          <a:p>
            <a:pPr rtl="0"/>
            <a:r>
              <a:rPr lang="fr"/>
              <a:t>Exemple de texte de pied de page</a:t>
            </a:r>
          </a:p>
        </p:txBody>
      </p:sp>
      <p:sp>
        <p:nvSpPr>
          <p:cNvPr id="8" name="Espace réservé de la date 7">
            <a:extLst>
              <a:ext uri="{FF2B5EF4-FFF2-40B4-BE49-F238E27FC236}">
                <a16:creationId xmlns:a16="http://schemas.microsoft.com/office/drawing/2014/main" id="{C1D02E87-8057-8AC7-6F57-2066BA1BC9B7}"/>
              </a:ext>
            </a:extLst>
          </p:cNvPr>
          <p:cNvSpPr>
            <a:spLocks noGrp="1"/>
          </p:cNvSpPr>
          <p:nvPr>
            <p:ph type="dt" sz="half" idx="14"/>
          </p:nvPr>
        </p:nvSpPr>
        <p:spPr/>
        <p:txBody>
          <a:bodyPr rtlCol="0"/>
          <a:lstStyle/>
          <a:p>
            <a:pPr rtl="0"/>
            <a:r>
              <a:rPr lang="en-US"/>
              <a:t>4/8/2025</a:t>
            </a:r>
          </a:p>
        </p:txBody>
      </p:sp>
      <p:sp>
        <p:nvSpPr>
          <p:cNvPr id="12" name="Espace réservé du numéro de diapositive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9" name="Connecteur droit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8892392"/>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Énoncé">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rtl="0"/>
            <a:r>
              <a:rPr lang="fr"/>
              <a:t>Cliquez pour modifier l’énoncé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10" name="Espace réservé du pied de page 9">
            <a:extLst>
              <a:ext uri="{FF2B5EF4-FFF2-40B4-BE49-F238E27FC236}">
                <a16:creationId xmlns:a16="http://schemas.microsoft.com/office/drawing/2014/main" id="{B4B05AAB-D167-637A-451A-510AF3173A71}"/>
              </a:ext>
            </a:extLst>
          </p:cNvPr>
          <p:cNvSpPr>
            <a:spLocks noGrp="1"/>
          </p:cNvSpPr>
          <p:nvPr>
            <p:ph type="ftr" sz="quarter" idx="15"/>
          </p:nvPr>
        </p:nvSpPr>
        <p:spPr/>
        <p:txBody>
          <a:bodyPr rtlCol="0"/>
          <a:lstStyle>
            <a:lvl1pPr>
              <a:defRPr>
                <a:solidFill>
                  <a:schemeClr val="tx1"/>
                </a:solidFill>
              </a:defRPr>
            </a:lvl1pPr>
          </a:lstStyle>
          <a:p>
            <a:pPr rtl="0"/>
            <a:r>
              <a:rPr lang="fr"/>
              <a:t>Exemple de texte de pied de page</a:t>
            </a:r>
          </a:p>
        </p:txBody>
      </p:sp>
      <p:sp>
        <p:nvSpPr>
          <p:cNvPr id="6" name="Espace réservé de la date 5">
            <a:extLst>
              <a:ext uri="{FF2B5EF4-FFF2-40B4-BE49-F238E27FC236}">
                <a16:creationId xmlns:a16="http://schemas.microsoft.com/office/drawing/2014/main" id="{A28B3CFC-5715-1685-A039-A3162E1A6D00}"/>
              </a:ext>
            </a:extLst>
          </p:cNvPr>
          <p:cNvSpPr>
            <a:spLocks noGrp="1"/>
          </p:cNvSpPr>
          <p:nvPr>
            <p:ph type="dt" sz="half" idx="14"/>
          </p:nvPr>
        </p:nvSpPr>
        <p:spPr/>
        <p:txBody>
          <a:bodyPr rtlCol="0"/>
          <a:lstStyle>
            <a:lvl1pPr>
              <a:defRPr>
                <a:solidFill>
                  <a:schemeClr val="tx1"/>
                </a:solidFill>
              </a:defRPr>
            </a:lvl1pPr>
          </a:lstStyle>
          <a:p>
            <a:pPr rtl="0"/>
            <a:r>
              <a:rPr lang="en-US"/>
              <a:t>4/8/2025</a:t>
            </a:r>
          </a:p>
        </p:txBody>
      </p:sp>
      <p:sp>
        <p:nvSpPr>
          <p:cNvPr id="11" name="Espace réservé du numéro de diapositive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rtlCol="0"/>
          <a:lstStyle>
            <a:lvl1pPr>
              <a:defRPr>
                <a:solidFill>
                  <a:schemeClr val="tx1"/>
                </a:solidFill>
              </a:defRPr>
            </a:lvl1pPr>
          </a:lstStyle>
          <a:p>
            <a:pPr rtl="0"/>
            <a:fld id="{DD84031F-D6BF-4677-B12E-7D8B88BA70F7}" type="slidenum">
              <a:rPr lang="en-US" smtClean="0"/>
              <a:pPr rtl="0"/>
              <a:t>‹N°›</a:t>
            </a:fld>
            <a:endParaRPr lang="en-US"/>
          </a:p>
        </p:txBody>
      </p:sp>
      <p:cxnSp>
        <p:nvCxnSpPr>
          <p:cNvPr id="8" name="Connecteur droit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13776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Énoncé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rtl="0">
              <a:lnSpc>
                <a:spcPct val="90000"/>
              </a:lnSpc>
              <a:spcBef>
                <a:spcPct val="0"/>
              </a:spcBef>
            </a:pPr>
            <a:r>
              <a:rPr lang="fr"/>
              <a:t>Cliquez pour modifier l’énoncé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7756050"/>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Énoncé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rtlCol="0"/>
          <a:lstStyle/>
          <a:p>
            <a:pPr rtl="0"/>
            <a:r>
              <a:rPr lang="fr"/>
              <a:t>Modifiez le style du titre</a:t>
            </a:r>
            <a:endParaRPr lang="en-US"/>
          </a:p>
        </p:txBody>
      </p:sp>
      <p:sp>
        <p:nvSpPr>
          <p:cNvPr id="7" name="Espace réservé du contenu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rtlCol="0"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rtl="0"/>
            <a:r>
              <a:rPr lang="fr"/>
              <a:t>Cliquez pour modifier l’énoncé</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4" name="Espace réservé du pied de page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6" name="Connecteur droit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079756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Citation">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rtlCol="0" anchor="ctr">
            <a:normAutofit/>
          </a:bodyPr>
          <a:lstStyle>
            <a:lvl1pPr marL="137160" indent="-137160" algn="ctr">
              <a:lnSpc>
                <a:spcPct val="100000"/>
              </a:lnSpc>
              <a:defRPr sz="1800" cap="all" baseline="0">
                <a:latin typeface="+mj-lt"/>
              </a:defRPr>
            </a:lvl1pPr>
          </a:lstStyle>
          <a:p>
            <a:pPr rtl="0"/>
            <a:r>
              <a:rPr lang="fr"/>
              <a:t>Auteur de la citation</a:t>
            </a:r>
          </a:p>
        </p:txBody>
      </p:sp>
      <p:sp>
        <p:nvSpPr>
          <p:cNvPr id="7" name="Espace réservé du contenu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rtlCol="0"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rtl="0"/>
            <a:r>
              <a:rPr lang="fr"/>
              <a:t>Cliquez pour modifier la citation</a:t>
            </a:r>
          </a:p>
        </p:txBody>
      </p:sp>
      <p:sp>
        <p:nvSpPr>
          <p:cNvPr id="9" name="Espace réservé du pied de page 8">
            <a:extLst>
              <a:ext uri="{FF2B5EF4-FFF2-40B4-BE49-F238E27FC236}">
                <a16:creationId xmlns:a16="http://schemas.microsoft.com/office/drawing/2014/main" id="{468922A5-1A25-C2CB-DB6C-A2CCA7E6E68B}"/>
              </a:ext>
            </a:extLst>
          </p:cNvPr>
          <p:cNvSpPr>
            <a:spLocks noGrp="1"/>
          </p:cNvSpPr>
          <p:nvPr>
            <p:ph type="ftr" sz="quarter" idx="15"/>
          </p:nvPr>
        </p:nvSpPr>
        <p:spPr/>
        <p:txBody>
          <a:bodyPr rtlCol="0"/>
          <a:lstStyle/>
          <a:p>
            <a:pPr rtl="0"/>
            <a:r>
              <a:rPr lang="fr"/>
              <a:t>Exemple de Texte de Pied de page</a:t>
            </a:r>
          </a:p>
        </p:txBody>
      </p:sp>
      <p:sp>
        <p:nvSpPr>
          <p:cNvPr id="8" name="Espace réservé de la date 7">
            <a:extLst>
              <a:ext uri="{FF2B5EF4-FFF2-40B4-BE49-F238E27FC236}">
                <a16:creationId xmlns:a16="http://schemas.microsoft.com/office/drawing/2014/main" id="{7AB04756-BB80-4C64-D871-0ADC3A7778F6}"/>
              </a:ext>
            </a:extLst>
          </p:cNvPr>
          <p:cNvSpPr>
            <a:spLocks noGrp="1"/>
          </p:cNvSpPr>
          <p:nvPr>
            <p:ph type="dt" sz="half" idx="14"/>
          </p:nvPr>
        </p:nvSpPr>
        <p:spPr/>
        <p:txBody>
          <a:bodyPr rtlCol="0"/>
          <a:lstStyle/>
          <a:p>
            <a:pPr rtl="0"/>
            <a:r>
              <a:rPr lang="en-US"/>
              <a:t>4/8/2025</a:t>
            </a:r>
          </a:p>
        </p:txBody>
      </p:sp>
      <p:sp>
        <p:nvSpPr>
          <p:cNvPr id="10" name="Espace réservé du numéro de diapositive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5" name="Connecteur droit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6468281"/>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Citation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rtlCol="0" anchor="t">
            <a:normAutofit/>
          </a:bodyPr>
          <a:lstStyle>
            <a:lvl1pPr marL="0" indent="0">
              <a:lnSpc>
                <a:spcPct val="100000"/>
              </a:lnSpc>
              <a:defRPr sz="2000" cap="all" baseline="0">
                <a:solidFill>
                  <a:schemeClr val="tx1"/>
                </a:solidFill>
                <a:latin typeface="+mj-lt"/>
              </a:defRPr>
            </a:lvl1pPr>
          </a:lstStyle>
          <a:p>
            <a:pPr rtl="0"/>
            <a:r>
              <a:rPr lang="fr"/>
              <a:t>Auteur de la citation</a:t>
            </a:r>
          </a:p>
        </p:txBody>
      </p:sp>
      <p:sp>
        <p:nvSpPr>
          <p:cNvPr id="7" name="Espace réservé du contenu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rtlCol="0"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rtl="0"/>
            <a:r>
              <a:rPr lang="fr"/>
              <a:t>Cliquez pour modifier la citation</a:t>
            </a:r>
          </a:p>
        </p:txBody>
      </p:sp>
      <p:sp>
        <p:nvSpPr>
          <p:cNvPr id="11" name="Espace réservé du pied de page 10">
            <a:extLst>
              <a:ext uri="{FF2B5EF4-FFF2-40B4-BE49-F238E27FC236}">
                <a16:creationId xmlns:a16="http://schemas.microsoft.com/office/drawing/2014/main" id="{BB573913-DF3D-A336-7766-2F2A4077FA24}"/>
              </a:ext>
            </a:extLst>
          </p:cNvPr>
          <p:cNvSpPr>
            <a:spLocks noGrp="1"/>
          </p:cNvSpPr>
          <p:nvPr>
            <p:ph type="ftr" sz="quarter" idx="15"/>
          </p:nvPr>
        </p:nvSpPr>
        <p:spPr/>
        <p:txBody>
          <a:bodyPr rtlCol="0"/>
          <a:lstStyle/>
          <a:p>
            <a:pPr rtl="0"/>
            <a:r>
              <a:rPr lang="fr"/>
              <a:t>Exemple de Texte de Pied de page</a:t>
            </a:r>
          </a:p>
        </p:txBody>
      </p:sp>
      <p:sp>
        <p:nvSpPr>
          <p:cNvPr id="10" name="Espace réservé de la date 9">
            <a:extLst>
              <a:ext uri="{FF2B5EF4-FFF2-40B4-BE49-F238E27FC236}">
                <a16:creationId xmlns:a16="http://schemas.microsoft.com/office/drawing/2014/main" id="{82574524-6D35-F65F-291D-C661BC2839A9}"/>
              </a:ext>
            </a:extLst>
          </p:cNvPr>
          <p:cNvSpPr>
            <a:spLocks noGrp="1"/>
          </p:cNvSpPr>
          <p:nvPr>
            <p:ph type="dt" sz="half" idx="14"/>
          </p:nvPr>
        </p:nvSpPr>
        <p:spPr/>
        <p:txBody>
          <a:bodyPr rtlCol="0"/>
          <a:lstStyle/>
          <a:p>
            <a:pPr rtl="0"/>
            <a:r>
              <a:rPr lang="en-US"/>
              <a:t>4/8/2025</a:t>
            </a:r>
          </a:p>
        </p:txBody>
      </p:sp>
      <p:sp>
        <p:nvSpPr>
          <p:cNvPr id="12" name="Espace réservé du numéro de diapositive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rtlCol="0"/>
          <a:lstStyle/>
          <a:p>
            <a:pPr rtl="0"/>
            <a:fld id="{DD84031F-D6BF-4677-B12E-7D8B88BA70F7}" type="slidenum">
              <a:rPr lang="en-US" smtClean="0"/>
              <a:t>‹N°›</a:t>
            </a:fld>
            <a:endParaRPr lang="en-US"/>
          </a:p>
        </p:txBody>
      </p:sp>
      <p:cxnSp>
        <p:nvCxnSpPr>
          <p:cNvPr id="6" name="Connecteur droit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4588194"/>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itation 3">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rtlCol="0" anchor="ctr">
            <a:normAutofit/>
          </a:bodyPr>
          <a:lstStyle>
            <a:lvl1pPr marL="137160" indent="-137160" algn="ctr">
              <a:lnSpc>
                <a:spcPct val="110000"/>
              </a:lnSpc>
              <a:defRPr sz="1800" cap="none" baseline="0">
                <a:solidFill>
                  <a:schemeClr val="accent1"/>
                </a:solidFill>
                <a:latin typeface="+mn-lt"/>
              </a:defRPr>
            </a:lvl1pPr>
          </a:lstStyle>
          <a:p>
            <a:pPr rtl="0"/>
            <a:r>
              <a:rPr lang="fr"/>
              <a:t>Auteur de la citation</a:t>
            </a:r>
          </a:p>
        </p:txBody>
      </p:sp>
      <p:sp>
        <p:nvSpPr>
          <p:cNvPr id="7" name="Espace réservé du contenu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rtlCol="0"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rtl="0"/>
            <a:r>
              <a:rPr lang="fr"/>
              <a:t>Cliquez pour modifier la citation</a:t>
            </a:r>
          </a:p>
        </p:txBody>
      </p:sp>
      <p:sp>
        <p:nvSpPr>
          <p:cNvPr id="4" name="Espace réservé du pied de page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8" name="Connecteur droit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Connecteur droit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2069347"/>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Citation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rtlCol="0" anchor="ctr">
            <a:normAutofit/>
          </a:bodyPr>
          <a:lstStyle>
            <a:lvl1pPr marL="137160" indent="-137160" algn="ctr">
              <a:lnSpc>
                <a:spcPct val="100000"/>
              </a:lnSpc>
              <a:defRPr sz="1800" cap="all" baseline="0">
                <a:solidFill>
                  <a:schemeClr val="tx1"/>
                </a:solidFill>
                <a:latin typeface="+mj-lt"/>
              </a:defRPr>
            </a:lvl1pPr>
          </a:lstStyle>
          <a:p>
            <a:pPr rtl="0"/>
            <a:r>
              <a:rPr lang="fr"/>
              <a:t>Auteur de la citation</a:t>
            </a:r>
          </a:p>
        </p:txBody>
      </p:sp>
      <p:sp>
        <p:nvSpPr>
          <p:cNvPr id="7" name="Espace réservé du contenu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rtlCol="0"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rtl="0"/>
            <a:r>
              <a:rPr lang="fr"/>
              <a:t>Cliquez pour modifier la citation</a:t>
            </a:r>
          </a:p>
        </p:txBody>
      </p:sp>
      <p:sp>
        <p:nvSpPr>
          <p:cNvPr id="4" name="Espace réservé du pied de page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lstStyle>
            <a:lvl1pPr>
              <a:defRPr>
                <a:solidFill>
                  <a:schemeClr val="tx1"/>
                </a:solidFill>
              </a:defRPr>
            </a:lvl1pPr>
          </a:lstStyle>
          <a:p>
            <a:pPr rtl="0"/>
            <a:r>
              <a:rPr lang="fr"/>
              <a:t>Exemple de Texte de Pied de page</a:t>
            </a:r>
          </a:p>
        </p:txBody>
      </p:sp>
      <p:sp>
        <p:nvSpPr>
          <p:cNvPr id="3" name="Espace réservé de la date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1"/>
                </a:solidFill>
              </a:defRPr>
            </a:lvl1pPr>
          </a:lstStyle>
          <a:p>
            <a:pPr rtl="0"/>
            <a:r>
              <a:rPr lang="en-US"/>
              <a:t>4/8/2025</a:t>
            </a:r>
          </a:p>
        </p:txBody>
      </p:sp>
      <p:sp>
        <p:nvSpPr>
          <p:cNvPr id="5" name="Espace réservé du numéro de diapositive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1"/>
                </a:solidFill>
              </a:defRPr>
            </a:lvl1pPr>
          </a:lstStyle>
          <a:p>
            <a:pPr rtl="0"/>
            <a:fld id="{DD84031F-D6BF-4677-B12E-7D8B88BA70F7}" type="slidenum">
              <a:rPr lang="en-US" smtClean="0"/>
              <a:t>‹N°›</a:t>
            </a:fld>
            <a:endParaRPr lang="en-US"/>
          </a:p>
        </p:txBody>
      </p:sp>
      <p:cxnSp>
        <p:nvCxnSpPr>
          <p:cNvPr id="10" name="Connecteur droit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9828653"/>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Deux contenus">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rtlCol="0" anchor="b"/>
          <a:lstStyle/>
          <a:p>
            <a:pPr rtl="0"/>
            <a:r>
              <a:rPr lang="fr"/>
              <a:t>Modifiez le style du titre</a:t>
            </a:r>
            <a:endParaRPr lang="en-US"/>
          </a:p>
        </p:txBody>
      </p:sp>
      <p:sp>
        <p:nvSpPr>
          <p:cNvPr id="4" name="Espace réservé du contenu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contenu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8" name="Espace réservé du pied de page 7">
            <a:extLst>
              <a:ext uri="{FF2B5EF4-FFF2-40B4-BE49-F238E27FC236}">
                <a16:creationId xmlns:a16="http://schemas.microsoft.com/office/drawing/2014/main" id="{7D294A4A-89C4-68BF-6701-5C47F940E3D6}"/>
              </a:ext>
            </a:extLst>
          </p:cNvPr>
          <p:cNvSpPr>
            <a:spLocks noGrp="1"/>
          </p:cNvSpPr>
          <p:nvPr>
            <p:ph type="ftr" sz="quarter" idx="11"/>
          </p:nvPr>
        </p:nvSpPr>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977908BC-F48B-81E4-8D93-7DB9E37161B6}"/>
              </a:ext>
            </a:extLst>
          </p:cNvPr>
          <p:cNvSpPr>
            <a:spLocks noGrp="1"/>
          </p:cNvSpPr>
          <p:nvPr>
            <p:ph type="dt" sz="half" idx="10"/>
          </p:nvPr>
        </p:nvSpPr>
        <p:spPr/>
        <p:txBody>
          <a:bodyPr rtlCol="0"/>
          <a:lstStyle/>
          <a:p>
            <a:pPr rtl="0"/>
            <a:r>
              <a:rPr lang="en-US"/>
              <a:t>4/8/2025</a:t>
            </a:r>
          </a:p>
        </p:txBody>
      </p:sp>
      <p:sp>
        <p:nvSpPr>
          <p:cNvPr id="9" name="Espace réservé du numéro de diapositive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11" name="Connecteur droit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4296921"/>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aison">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rtlCol="0" anchor="b"/>
          <a:lstStyle/>
          <a:p>
            <a:pPr rtl="0"/>
            <a:r>
              <a:rPr lang="fr"/>
              <a:t>Modifiez le style du titre</a:t>
            </a:r>
            <a:endParaRPr lang="en-US"/>
          </a:p>
        </p:txBody>
      </p:sp>
      <p:sp>
        <p:nvSpPr>
          <p:cNvPr id="3" name="Espace réservé du texte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rtlCol="0"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6" name="Espace réservé du contenu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texte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rtlCol="0"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
              <a:t>Modifiez les styles du texte</a:t>
            </a:r>
          </a:p>
        </p:txBody>
      </p:sp>
      <p:sp>
        <p:nvSpPr>
          <p:cNvPr id="12" name="Espace réservé du contenu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rtlCol="0"/>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8" name="Espace réservé du pied de page 7">
            <a:extLst>
              <a:ext uri="{FF2B5EF4-FFF2-40B4-BE49-F238E27FC236}">
                <a16:creationId xmlns:a16="http://schemas.microsoft.com/office/drawing/2014/main" id="{7D294A4A-89C4-68BF-6701-5C47F940E3D6}"/>
              </a:ext>
            </a:extLst>
          </p:cNvPr>
          <p:cNvSpPr>
            <a:spLocks noGrp="1"/>
          </p:cNvSpPr>
          <p:nvPr>
            <p:ph type="ftr" sz="quarter" idx="11"/>
          </p:nvPr>
        </p:nvSpPr>
        <p:spPr/>
        <p:txBody>
          <a:bodyPr rtlCol="0"/>
          <a:lstStyle/>
          <a:p>
            <a:pPr rtl="0"/>
            <a:r>
              <a:rPr lang="fr"/>
              <a:t>Exemple de Texte de Pied de page</a:t>
            </a:r>
          </a:p>
        </p:txBody>
      </p:sp>
      <p:sp>
        <p:nvSpPr>
          <p:cNvPr id="7" name="Espace réservé de la date 6">
            <a:extLst>
              <a:ext uri="{FF2B5EF4-FFF2-40B4-BE49-F238E27FC236}">
                <a16:creationId xmlns:a16="http://schemas.microsoft.com/office/drawing/2014/main" id="{977908BC-F48B-81E4-8D93-7DB9E37161B6}"/>
              </a:ext>
            </a:extLst>
          </p:cNvPr>
          <p:cNvSpPr>
            <a:spLocks noGrp="1"/>
          </p:cNvSpPr>
          <p:nvPr>
            <p:ph type="dt" sz="half" idx="10"/>
          </p:nvPr>
        </p:nvSpPr>
        <p:spPr/>
        <p:txBody>
          <a:bodyPr rtlCol="0"/>
          <a:lstStyle/>
          <a:p>
            <a:pPr rtl="0"/>
            <a:r>
              <a:rPr lang="en-US"/>
              <a:t>4/8/2025</a:t>
            </a:r>
          </a:p>
        </p:txBody>
      </p:sp>
      <p:sp>
        <p:nvSpPr>
          <p:cNvPr id="9" name="Espace réservé du numéro de diapositive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11" name="Connecteur droit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0573929"/>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re uniquement">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53695F-5E74-A380-8592-35FB6FC77542}"/>
              </a:ext>
            </a:extLst>
          </p:cNvPr>
          <p:cNvSpPr>
            <a:spLocks noGrp="1"/>
          </p:cNvSpPr>
          <p:nvPr>
            <p:ph type="title"/>
          </p:nvPr>
        </p:nvSpPr>
        <p:spPr/>
        <p:txBody>
          <a:bodyPr rtlCol="0"/>
          <a:lstStyle/>
          <a:p>
            <a:pPr rtl="0"/>
            <a:r>
              <a:rPr lang="fr"/>
              <a:t>Modifiez le style du titre</a:t>
            </a:r>
            <a:endParaRPr lang="en-US"/>
          </a:p>
        </p:txBody>
      </p:sp>
      <p:sp>
        <p:nvSpPr>
          <p:cNvPr id="4" name="Espace réservé du pied de page 3">
            <a:extLst>
              <a:ext uri="{FF2B5EF4-FFF2-40B4-BE49-F238E27FC236}">
                <a16:creationId xmlns:a16="http://schemas.microsoft.com/office/drawing/2014/main" id="{09C6149D-58D4-7497-818C-CF30244A29A1}"/>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8E8D2567-C532-BD45-FA85-03DBE3B3C779}"/>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384131528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Vide">
    <p:bg>
      <p:bgRef idx="1001">
        <a:schemeClr val="bg1"/>
      </p:bgRef>
    </p:bg>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6FE9D82C-4607-0C9D-F241-D35DBEFEF4B1}"/>
              </a:ext>
            </a:extLst>
          </p:cNvPr>
          <p:cNvSpPr>
            <a:spLocks noGrp="1"/>
          </p:cNvSpPr>
          <p:nvPr>
            <p:ph type="ftr" sz="quarter" idx="11"/>
          </p:nvPr>
        </p:nvSpPr>
        <p:spPr/>
        <p:txBody>
          <a:bodyPr rtlCol="0"/>
          <a:lstStyle/>
          <a:p>
            <a:pPr rtl="0"/>
            <a:r>
              <a:rPr lang="fr"/>
              <a:t>Exemple de Texte de Pied de page</a:t>
            </a:r>
          </a:p>
        </p:txBody>
      </p:sp>
      <p:sp>
        <p:nvSpPr>
          <p:cNvPr id="3" name="Espace réservé de la date 2">
            <a:extLst>
              <a:ext uri="{FF2B5EF4-FFF2-40B4-BE49-F238E27FC236}">
                <a16:creationId xmlns:a16="http://schemas.microsoft.com/office/drawing/2014/main" id="{B4DCFCC5-7F8E-F549-57BA-7303E9F17466}"/>
              </a:ext>
            </a:extLst>
          </p:cNvPr>
          <p:cNvSpPr>
            <a:spLocks noGrp="1"/>
          </p:cNvSpPr>
          <p:nvPr>
            <p:ph type="dt" sz="half" idx="10"/>
          </p:nvPr>
        </p:nvSpPr>
        <p:spPr/>
        <p:txBody>
          <a:bodyPr rtlCol="0"/>
          <a:lstStyle/>
          <a:p>
            <a:pPr rtl="0"/>
            <a:r>
              <a:rPr lang="en-US"/>
              <a:t>4/8/2025</a:t>
            </a:r>
          </a:p>
        </p:txBody>
      </p:sp>
      <p:sp>
        <p:nvSpPr>
          <p:cNvPr id="5" name="Espace réservé du numéro de diapositive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21516500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u avec légend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rtlCol="0" anchor="t"/>
          <a:lstStyle>
            <a:lvl1pPr>
              <a:defRPr sz="3200"/>
            </a:lvl1pPr>
          </a:lstStyle>
          <a:p>
            <a:pPr rtl="0"/>
            <a:r>
              <a:rPr lang="fr"/>
              <a:t>Modifiez le style du titre</a:t>
            </a:r>
            <a:endParaRPr lang="en-US"/>
          </a:p>
        </p:txBody>
      </p:sp>
      <p:sp>
        <p:nvSpPr>
          <p:cNvPr id="4" name="Espace réservé du texte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u contenu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a:extLst>
              <a:ext uri="{FF2B5EF4-FFF2-40B4-BE49-F238E27FC236}">
                <a16:creationId xmlns:a16="http://schemas.microsoft.com/office/drawing/2014/main" id="{71AADC46-B01E-DA2E-F24C-C48F5253DD00}"/>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B71A6063-F591-A804-79FE-A80AD399139E}"/>
              </a:ext>
            </a:extLst>
          </p:cNvPr>
          <p:cNvSpPr>
            <a:spLocks noGrp="1"/>
          </p:cNvSpPr>
          <p:nvPr>
            <p:ph type="dt" sz="half" idx="10"/>
          </p:nvPr>
        </p:nvSpPr>
        <p:spPr/>
        <p:txBody>
          <a:bodyPr rtlCol="0"/>
          <a:lstStyle/>
          <a:p>
            <a:pPr rtl="0"/>
            <a:r>
              <a:rPr lang="en-US"/>
              <a:t>4/8/2025</a:t>
            </a:r>
          </a:p>
        </p:txBody>
      </p:sp>
      <p:sp>
        <p:nvSpPr>
          <p:cNvPr id="7" name="Espace réservé du numéro de diapositive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spTree>
    <p:extLst>
      <p:ext uri="{BB962C8B-B14F-4D97-AF65-F5344CB8AC3E}">
        <p14:creationId xmlns:p14="http://schemas.microsoft.com/office/powerpoint/2010/main" val="214795400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rtlCol="0" anchor="t"/>
          <a:lstStyle>
            <a:lvl1pPr>
              <a:defRPr sz="3200"/>
            </a:lvl1pPr>
          </a:lstStyle>
          <a:p>
            <a:pPr rtl="0"/>
            <a:r>
              <a:rPr lang="fr"/>
              <a:t>Modifiez le style du titre</a:t>
            </a:r>
            <a:endParaRPr lang="en-US"/>
          </a:p>
        </p:txBody>
      </p:sp>
      <p:sp>
        <p:nvSpPr>
          <p:cNvPr id="4" name="Espace réservé du texte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
              <a:t>Modifiez les styles du texte</a:t>
            </a:r>
          </a:p>
        </p:txBody>
      </p:sp>
      <p:sp>
        <p:nvSpPr>
          <p:cNvPr id="3" name="Espace réservé d’image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rtl="0"/>
            <a:r>
              <a:rPr lang="fr"/>
              <a:t> </a:t>
            </a:r>
          </a:p>
        </p:txBody>
      </p:sp>
      <p:sp>
        <p:nvSpPr>
          <p:cNvPr id="6" name="Espace réservé du pied de page 5">
            <a:extLst>
              <a:ext uri="{FF2B5EF4-FFF2-40B4-BE49-F238E27FC236}">
                <a16:creationId xmlns:a16="http://schemas.microsoft.com/office/drawing/2014/main" id="{E7F485A3-3BFA-4B57-F6E5-5F41542B7BBD}"/>
              </a:ext>
            </a:extLst>
          </p:cNvPr>
          <p:cNvSpPr>
            <a:spLocks noGrp="1"/>
          </p:cNvSpPr>
          <p:nvPr>
            <p:ph type="ftr" sz="quarter" idx="11"/>
          </p:nvPr>
        </p:nvSpPr>
        <p:spPr/>
        <p:txBody>
          <a:bodyPr rtlCol="0"/>
          <a:lstStyle/>
          <a:p>
            <a:pPr rtl="0"/>
            <a:r>
              <a:rPr lang="fr"/>
              <a:t>Exemple de Texte de Pied de page</a:t>
            </a:r>
          </a:p>
        </p:txBody>
      </p:sp>
      <p:sp>
        <p:nvSpPr>
          <p:cNvPr id="5" name="Espace réservé de la date 4">
            <a:extLst>
              <a:ext uri="{FF2B5EF4-FFF2-40B4-BE49-F238E27FC236}">
                <a16:creationId xmlns:a16="http://schemas.microsoft.com/office/drawing/2014/main" id="{600AC9F0-6744-73C8-54FC-5C12BA7BF791}"/>
              </a:ext>
            </a:extLst>
          </p:cNvPr>
          <p:cNvSpPr>
            <a:spLocks noGrp="1"/>
          </p:cNvSpPr>
          <p:nvPr>
            <p:ph type="dt" sz="half" idx="10"/>
          </p:nvPr>
        </p:nvSpPr>
        <p:spPr/>
        <p:txBody>
          <a:bodyPr rtlCol="0"/>
          <a:lstStyle/>
          <a:p>
            <a:pPr rtl="0"/>
            <a:r>
              <a:rPr lang="en-US"/>
              <a:t>4/8/2025</a:t>
            </a:r>
          </a:p>
        </p:txBody>
      </p:sp>
      <p:sp>
        <p:nvSpPr>
          <p:cNvPr id="7" name="Espace réservé du numéro de diapositive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9" name="Connecteur droit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78032510"/>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rtlCol="0" anchor="b">
            <a:normAutofit/>
          </a:bodyPr>
          <a:lstStyle>
            <a:lvl1pPr>
              <a:defRPr sz="7200">
                <a:solidFill>
                  <a:schemeClr val="accent1"/>
                </a:solidFill>
              </a:defRPr>
            </a:lvl1pPr>
          </a:lstStyle>
          <a:p>
            <a:pPr rtl="0"/>
            <a:r>
              <a:rPr lang="fr"/>
              <a:t>Modifiez le style du titre</a:t>
            </a:r>
            <a:endParaRPr lang="en-US"/>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3" name="Connecteur droit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7104397"/>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rtlCol="0" anchor="b">
            <a:normAutofit/>
          </a:bodyPr>
          <a:lstStyle>
            <a:lvl1pPr>
              <a:defRPr sz="7200">
                <a:solidFill>
                  <a:schemeClr val="accent1"/>
                </a:solidFill>
              </a:defRPr>
            </a:lvl1pPr>
          </a:lstStyle>
          <a:p>
            <a:pPr rtl="0"/>
            <a:r>
              <a:rPr lang="fr"/>
              <a:t>Modifiez le style du titre</a:t>
            </a:r>
            <a:endParaRPr lang="en-US"/>
          </a:p>
        </p:txBody>
      </p:sp>
      <p:sp>
        <p:nvSpPr>
          <p:cNvPr id="8" name="Espace réservé du contenu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fr"/>
              <a:t>Exemple de Texte de Pied de page</a:t>
            </a:r>
          </a:p>
        </p:txBody>
      </p:sp>
      <p:sp>
        <p:nvSpPr>
          <p:cNvPr id="4" name="Espace réservé de la date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4/8/2025</a:t>
            </a:r>
          </a:p>
        </p:txBody>
      </p:sp>
      <p:sp>
        <p:nvSpPr>
          <p:cNvPr id="6" name="Espace réservé du numéro de diapositive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DD84031F-D6BF-4677-B12E-7D8B88BA70F7}" type="slidenum">
              <a:rPr lang="en-US" smtClean="0"/>
              <a:t>‹N°›</a:t>
            </a:fld>
            <a:endParaRPr lang="en-US"/>
          </a:p>
        </p:txBody>
      </p:sp>
      <p:cxnSp>
        <p:nvCxnSpPr>
          <p:cNvPr id="9" name="Connecteur droit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019446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9" name="Connecteur droit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Espace réservé du titre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pPr rtl="0"/>
            <a:r>
              <a:rPr lang="fr"/>
              <a:t>Modifiez le style du titre</a:t>
            </a:r>
            <a:endParaRPr lang="en-US"/>
          </a:p>
        </p:txBody>
      </p:sp>
      <p:sp>
        <p:nvSpPr>
          <p:cNvPr id="3" name="Espace réservé du texte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rtl="0"/>
            <a:r>
              <a:rPr lang="fr"/>
              <a:t>Modifiez les styles du texte</a:t>
            </a:r>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5" name="Espace réservé du pied de page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pPr rtl="0"/>
            <a:r>
              <a:rPr lang="fr"/>
              <a:t>Exemple de Texte de Pied de page</a:t>
            </a:r>
          </a:p>
        </p:txBody>
      </p:sp>
      <p:sp>
        <p:nvSpPr>
          <p:cNvPr id="4" name="Espace réservé de la date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pPr rtl="0"/>
            <a:r>
              <a:rPr lang="en-US"/>
              <a:t>4/8/2025</a:t>
            </a:r>
          </a:p>
        </p:txBody>
      </p:sp>
      <p:sp>
        <p:nvSpPr>
          <p:cNvPr id="6" name="Espace réservé du numéro de diapositive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pPr rtl="0"/>
            <a:fld id="{DD84031F-D6BF-4677-B12E-7D8B88BA70F7}" type="slidenum">
              <a:rPr lang="en-US" smtClean="0"/>
              <a:t>‹N°›</a:t>
            </a:fld>
            <a:endParaRPr lang="en-US"/>
          </a:p>
        </p:txBody>
      </p:sp>
    </p:spTree>
    <p:extLst>
      <p:ext uri="{BB962C8B-B14F-4D97-AF65-F5344CB8AC3E}">
        <p14:creationId xmlns:p14="http://schemas.microsoft.com/office/powerpoint/2010/main" val="33467940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26BF5-978E-B212-EAD6-F3F524FF1DD9}"/>
              </a:ext>
            </a:extLst>
          </p:cNvPr>
          <p:cNvSpPr>
            <a:spLocks noGrp="1"/>
          </p:cNvSpPr>
          <p:nvPr>
            <p:ph type="title"/>
          </p:nvPr>
        </p:nvSpPr>
        <p:spPr>
          <a:xfrm>
            <a:off x="429901" y="5056743"/>
            <a:ext cx="11339400" cy="966902"/>
          </a:xfrm>
        </p:spPr>
        <p:txBody>
          <a:bodyPr anchor="b">
            <a:normAutofit/>
          </a:bodyPr>
          <a:lstStyle/>
          <a:p>
            <a:r>
              <a:rPr lang="en-US" sz="3000"/>
              <a:t>Lancement du projet d’études Bachelor 2 – IA &amp; Agriculture</a:t>
            </a:r>
          </a:p>
        </p:txBody>
      </p:sp>
      <p:pic>
        <p:nvPicPr>
          <p:cNvPr id="4" name="Picture 3" descr="Drone survolant un champ">
            <a:extLst>
              <a:ext uri="{FF2B5EF4-FFF2-40B4-BE49-F238E27FC236}">
                <a16:creationId xmlns:a16="http://schemas.microsoft.com/office/drawing/2014/main" id="{1FCD0464-EB85-4B23-989E-CDA77C349B9A}"/>
              </a:ext>
            </a:extLst>
          </p:cNvPr>
          <p:cNvPicPr>
            <a:picLocks noChangeAspect="1"/>
          </p:cNvPicPr>
          <p:nvPr/>
        </p:nvPicPr>
        <p:blipFill>
          <a:blip r:embed="rId3"/>
          <a:srcRect t="39182"/>
          <a:stretch>
            <a:fillRect/>
          </a:stretch>
        </p:blipFill>
        <p:spPr>
          <a:xfrm>
            <a:off x="20" y="10"/>
            <a:ext cx="12191980" cy="4930902"/>
          </a:xfrm>
          <a:prstGeom prst="rect">
            <a:avLst/>
          </a:prstGeom>
          <a:effectLst>
            <a:outerShdw blurRad="203200" dist="12700" dir="7800000" algn="r" rotWithShape="0">
              <a:prstClr val="black">
                <a:alpha val="10000"/>
              </a:prstClr>
            </a:outerShdw>
          </a:effectLst>
        </p:spPr>
      </p:pic>
      <p:sp>
        <p:nvSpPr>
          <p:cNvPr id="3" name="Subtitle 2">
            <a:extLst>
              <a:ext uri="{FF2B5EF4-FFF2-40B4-BE49-F238E27FC236}">
                <a16:creationId xmlns:a16="http://schemas.microsoft.com/office/drawing/2014/main" id="{8A01CAF1-FC10-9D31-A50D-606110D3F076}"/>
              </a:ext>
            </a:extLst>
          </p:cNvPr>
          <p:cNvSpPr>
            <a:spLocks noGrp="1"/>
          </p:cNvSpPr>
          <p:nvPr>
            <p:ph type="body" idx="1"/>
          </p:nvPr>
        </p:nvSpPr>
        <p:spPr>
          <a:xfrm>
            <a:off x="429902" y="5979576"/>
            <a:ext cx="11339400" cy="365126"/>
          </a:xfrm>
        </p:spPr>
        <p:txBody>
          <a:bodyPr anchor="t">
            <a:normAutofit/>
          </a:bodyPr>
          <a:lstStyle/>
          <a:p>
            <a:pPr>
              <a:lnSpc>
                <a:spcPct val="110000"/>
              </a:lnSpc>
            </a:pPr>
            <a:r>
              <a:rPr lang="en-US" sz="1700"/>
              <a:t>Introduction aux technologies innovantes en agriculture moderne</a:t>
            </a:r>
          </a:p>
        </p:txBody>
      </p:sp>
    </p:spTree>
    <p:extLst>
      <p:ext uri="{BB962C8B-B14F-4D97-AF65-F5344CB8AC3E}">
        <p14:creationId xmlns:p14="http://schemas.microsoft.com/office/powerpoint/2010/main" val="2982733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42"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anim calcmode="lin" valueType="num">
                                      <p:cBhvr>
                                        <p:cTn id="11" dur="250" fill="hold"/>
                                        <p:tgtEl>
                                          <p:spTgt spid="3"/>
                                        </p:tgtEl>
                                        <p:attrNameLst>
                                          <p:attrName>ppt_x</p:attrName>
                                        </p:attrNameLst>
                                      </p:cBhvr>
                                      <p:tavLst>
                                        <p:tav tm="0">
                                          <p:val>
                                            <p:strVal val="#ppt_x"/>
                                          </p:val>
                                        </p:tav>
                                        <p:tav tm="100000">
                                          <p:val>
                                            <p:strVal val="#ppt_x"/>
                                          </p:val>
                                        </p:tav>
                                      </p:tavLst>
                                    </p:anim>
                                    <p:anim calcmode="lin" valueType="num">
                                      <p:cBhvr>
                                        <p:cTn id="12"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E6C1-CD15-26CC-499A-7BDCE085C377}"/>
              </a:ext>
            </a:extLst>
          </p:cNvPr>
          <p:cNvSpPr>
            <a:spLocks noGrp="1"/>
          </p:cNvSpPr>
          <p:nvPr>
            <p:ph type="title"/>
          </p:nvPr>
        </p:nvSpPr>
        <p:spPr>
          <a:xfrm>
            <a:off x="426997" y="3018408"/>
            <a:ext cx="8961120" cy="3247475"/>
          </a:xfrm>
        </p:spPr>
        <p:txBody>
          <a:bodyPr anchor="b">
            <a:normAutofit/>
          </a:bodyPr>
          <a:lstStyle/>
          <a:p>
            <a:r>
              <a:rPr lang="en-US"/>
              <a:t>Présentation générale du projet d’études B2</a:t>
            </a:r>
          </a:p>
        </p:txBody>
      </p:sp>
    </p:spTree>
    <p:extLst>
      <p:ext uri="{BB962C8B-B14F-4D97-AF65-F5344CB8AC3E}">
        <p14:creationId xmlns:p14="http://schemas.microsoft.com/office/powerpoint/2010/main" val="36763182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B96C5-965A-A321-F23A-F258C21D026D}"/>
              </a:ext>
            </a:extLst>
          </p:cNvPr>
          <p:cNvSpPr>
            <a:spLocks noGrp="1"/>
          </p:cNvSpPr>
          <p:nvPr>
            <p:ph type="title"/>
          </p:nvPr>
        </p:nvSpPr>
        <p:spPr>
          <a:xfrm>
            <a:off x="4848555" y="512011"/>
            <a:ext cx="6792069" cy="1259920"/>
          </a:xfrm>
        </p:spPr>
        <p:txBody>
          <a:bodyPr anchor="b">
            <a:normAutofit/>
          </a:bodyPr>
          <a:lstStyle/>
          <a:p>
            <a:r>
              <a:rPr lang="en-US" dirty="0" err="1"/>
              <a:t>Lancement</a:t>
            </a:r>
            <a:r>
              <a:rPr lang="en-US" dirty="0"/>
              <a:t> du </a:t>
            </a:r>
            <a:r>
              <a:rPr lang="en-US" dirty="0" err="1"/>
              <a:t>projet</a:t>
            </a:r>
            <a:r>
              <a:rPr lang="en-US" dirty="0"/>
              <a:t> </a:t>
            </a:r>
            <a:r>
              <a:rPr lang="en-US" dirty="0" err="1"/>
              <a:t>d’études</a:t>
            </a:r>
            <a:r>
              <a:rPr lang="en-US" dirty="0"/>
              <a:t> Bachelor 2</a:t>
            </a:r>
          </a:p>
        </p:txBody>
      </p:sp>
      <p:pic>
        <p:nvPicPr>
          <p:cNvPr id="5" name="Content Placeholder 4" descr="Plan en pied d’un jeune fermier séduisant utilisant une tablette alors qu’il travaille à sa ferme avec une collègue en arrière-plan">
            <a:extLst>
              <a:ext uri="{FF2B5EF4-FFF2-40B4-BE49-F238E27FC236}">
                <a16:creationId xmlns:a16="http://schemas.microsoft.com/office/drawing/2014/main" id="{DC37556E-571B-4748-BCAB-DE4798D7FCB8}"/>
              </a:ext>
            </a:extLst>
          </p:cNvPr>
          <p:cNvPicPr>
            <a:picLocks noGrp="1" noChangeAspect="1"/>
          </p:cNvPicPr>
          <p:nvPr>
            <p:ph type="pic" sz="quarter" idx="13"/>
          </p:nvPr>
        </p:nvPicPr>
        <p:blipFill>
          <a:blip r:embed="rId3"/>
          <a:srcRect l="13734" r="42481" b="2"/>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71FA0A20-4B22-D190-E9EC-019590A8737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3584448"/>
          </a:xfrm>
        </p:spPr>
        <p:txBody>
          <a:bodyPr>
            <a:normAutofit/>
          </a:bodyPr>
          <a:lstStyle/>
          <a:p>
            <a:pPr marL="0" indent="0">
              <a:lnSpc>
                <a:spcPct val="110000"/>
              </a:lnSpc>
              <a:spcBef>
                <a:spcPts val="2500"/>
              </a:spcBef>
              <a:buFont typeface="Arial" panose="020B0604020202020204" pitchFamily="34" charset="0"/>
              <a:buNone/>
            </a:pPr>
            <a:r>
              <a:rPr lang="en-US" b="1" dirty="0"/>
              <a:t>Objectif </a:t>
            </a:r>
            <a:r>
              <a:rPr lang="en-US" b="1" dirty="0" err="1"/>
              <a:t>pédagogique</a:t>
            </a:r>
            <a:r>
              <a:rPr lang="en-US" b="1" dirty="0"/>
              <a:t> du </a:t>
            </a:r>
            <a:r>
              <a:rPr lang="en-US" b="1" dirty="0" err="1"/>
              <a:t>projet</a:t>
            </a:r>
            <a:endParaRPr lang="en-US" b="1" dirty="0"/>
          </a:p>
          <a:p>
            <a:pPr marL="0" lvl="1" indent="0">
              <a:lnSpc>
                <a:spcPct val="110000"/>
              </a:lnSpc>
              <a:buFont typeface="Arial" panose="020B0604020202020204" pitchFamily="34" charset="0"/>
              <a:buNone/>
            </a:pPr>
            <a:r>
              <a:rPr dirty="0"/>
              <a:t>Le </a:t>
            </a:r>
            <a:r>
              <a:rPr dirty="0" err="1"/>
              <a:t>projet</a:t>
            </a:r>
            <a:r>
              <a:rPr dirty="0"/>
              <a:t> </a:t>
            </a:r>
            <a:r>
              <a:rPr dirty="0" err="1"/>
              <a:t>permet</a:t>
            </a:r>
            <a:r>
              <a:rPr dirty="0"/>
              <a:t> aux </a:t>
            </a:r>
            <a:r>
              <a:rPr dirty="0" err="1"/>
              <a:t>étudiants</a:t>
            </a:r>
            <a:r>
              <a:rPr dirty="0"/>
              <a:t> de </a:t>
            </a:r>
            <a:r>
              <a:rPr dirty="0" err="1"/>
              <a:t>devenir</a:t>
            </a:r>
            <a:r>
              <a:rPr dirty="0"/>
              <a:t> de jeunes </a:t>
            </a:r>
            <a:r>
              <a:rPr lang="fr-FR" dirty="0" err="1"/>
              <a:t>profesionnels</a:t>
            </a:r>
            <a:r>
              <a:rPr dirty="0"/>
              <a:t> </a:t>
            </a:r>
            <a:r>
              <a:rPr dirty="0" err="1"/>
              <a:t>capables</a:t>
            </a:r>
            <a:r>
              <a:rPr dirty="0"/>
              <a:t> de </a:t>
            </a:r>
            <a:r>
              <a:rPr dirty="0" err="1"/>
              <a:t>traduire</a:t>
            </a:r>
            <a:r>
              <a:rPr dirty="0"/>
              <a:t> un </a:t>
            </a:r>
            <a:r>
              <a:rPr dirty="0" err="1"/>
              <a:t>besoin</a:t>
            </a:r>
            <a:r>
              <a:rPr dirty="0"/>
              <a:t> métier </a:t>
            </a:r>
            <a:r>
              <a:rPr dirty="0" err="1"/>
              <a:t>en</a:t>
            </a:r>
            <a:r>
              <a:rPr dirty="0"/>
              <a:t> solution technique.</a:t>
            </a:r>
            <a:endParaRPr lang="en-US" dirty="0"/>
          </a:p>
          <a:p>
            <a:pPr marL="0" indent="0">
              <a:lnSpc>
                <a:spcPct val="110000"/>
              </a:lnSpc>
              <a:spcBef>
                <a:spcPts val="2500"/>
              </a:spcBef>
              <a:buFont typeface="Arial" panose="020B0604020202020204" pitchFamily="34" charset="0"/>
              <a:buNone/>
            </a:pPr>
            <a:r>
              <a:rPr lang="en-US" b="1" dirty="0" err="1"/>
              <a:t>Thème</a:t>
            </a:r>
            <a:r>
              <a:rPr lang="en-US" b="1" dirty="0"/>
              <a:t> central IA &amp; Agriculture</a:t>
            </a:r>
          </a:p>
          <a:p>
            <a:pPr marL="0" lvl="1" indent="0">
              <a:lnSpc>
                <a:spcPct val="110000"/>
              </a:lnSpc>
              <a:buFont typeface="Arial" panose="020B0604020202020204" pitchFamily="34" charset="0"/>
              <a:buNone/>
            </a:pPr>
            <a:r>
              <a:rPr dirty="0"/>
              <a:t>Le </a:t>
            </a:r>
            <a:r>
              <a:rPr dirty="0" err="1"/>
              <a:t>projet</a:t>
            </a:r>
            <a:r>
              <a:rPr dirty="0"/>
              <a:t> </a:t>
            </a:r>
            <a:r>
              <a:rPr dirty="0" err="1"/>
              <a:t>exploite</a:t>
            </a:r>
            <a:r>
              <a:rPr dirty="0"/>
              <a:t> </a:t>
            </a:r>
            <a:r>
              <a:rPr dirty="0" err="1"/>
              <a:t>l’intelligence</a:t>
            </a:r>
            <a:r>
              <a:rPr dirty="0"/>
              <a:t> </a:t>
            </a:r>
            <a:r>
              <a:rPr dirty="0" err="1"/>
              <a:t>artificielle</a:t>
            </a:r>
            <a:r>
              <a:rPr dirty="0"/>
              <a:t> </a:t>
            </a:r>
            <a:r>
              <a:rPr dirty="0" err="1"/>
              <a:t>appliquée</a:t>
            </a:r>
            <a:r>
              <a:rPr dirty="0"/>
              <a:t> à </a:t>
            </a:r>
            <a:r>
              <a:rPr dirty="0" err="1"/>
              <a:t>l’agriculture</a:t>
            </a:r>
            <a:r>
              <a:rPr dirty="0"/>
              <a:t>, </a:t>
            </a:r>
            <a:r>
              <a:rPr dirty="0" err="1"/>
              <a:t>mobilisant</a:t>
            </a:r>
            <a:r>
              <a:rPr dirty="0"/>
              <a:t> </a:t>
            </a:r>
            <a:r>
              <a:rPr dirty="0" err="1"/>
              <a:t>développement</a:t>
            </a:r>
            <a:r>
              <a:rPr dirty="0"/>
              <a:t>, cloud et réseaux.</a:t>
            </a:r>
            <a:endParaRPr lang="en-US" dirty="0"/>
          </a:p>
          <a:p>
            <a:pPr marL="0" indent="0">
              <a:lnSpc>
                <a:spcPct val="110000"/>
              </a:lnSpc>
              <a:spcBef>
                <a:spcPts val="2500"/>
              </a:spcBef>
              <a:buFont typeface="Arial" panose="020B0604020202020204" pitchFamily="34" charset="0"/>
              <a:buNone/>
            </a:pPr>
            <a:r>
              <a:rPr lang="en-US" b="1" dirty="0"/>
              <a:t>Gestion de </a:t>
            </a:r>
            <a:r>
              <a:rPr lang="en-US" b="1" dirty="0" err="1"/>
              <a:t>projet</a:t>
            </a:r>
            <a:r>
              <a:rPr lang="en-US" b="1" dirty="0"/>
              <a:t> et collaboration</a:t>
            </a:r>
          </a:p>
          <a:p>
            <a:pPr marL="0" lvl="1" indent="0">
              <a:lnSpc>
                <a:spcPct val="110000"/>
              </a:lnSpc>
              <a:buFont typeface="Arial" panose="020B0604020202020204" pitchFamily="34" charset="0"/>
              <a:buNone/>
            </a:pPr>
            <a:r>
              <a:rPr dirty="0"/>
              <a:t>Les </a:t>
            </a:r>
            <a:r>
              <a:rPr dirty="0" err="1"/>
              <a:t>étudiants</a:t>
            </a:r>
            <a:r>
              <a:rPr dirty="0"/>
              <a:t> </a:t>
            </a:r>
            <a:r>
              <a:rPr dirty="0" err="1"/>
              <a:t>développent</a:t>
            </a:r>
            <a:r>
              <a:rPr dirty="0"/>
              <a:t> des </a:t>
            </a:r>
            <a:r>
              <a:rPr dirty="0" err="1"/>
              <a:t>compétences</a:t>
            </a:r>
            <a:r>
              <a:rPr dirty="0"/>
              <a:t> </a:t>
            </a:r>
            <a:r>
              <a:rPr dirty="0" err="1"/>
              <a:t>en</a:t>
            </a:r>
            <a:r>
              <a:rPr dirty="0"/>
              <a:t> gestion de </a:t>
            </a:r>
            <a:r>
              <a:rPr dirty="0" err="1"/>
              <a:t>projet</a:t>
            </a:r>
            <a:r>
              <a:rPr dirty="0"/>
              <a:t>, travail </a:t>
            </a:r>
            <a:r>
              <a:rPr dirty="0" err="1"/>
              <a:t>d’équipe</a:t>
            </a:r>
            <a:r>
              <a:rPr dirty="0"/>
              <a:t> et communication </a:t>
            </a:r>
            <a:r>
              <a:rPr dirty="0" err="1"/>
              <a:t>professionnelle</a:t>
            </a:r>
            <a:r>
              <a:rPr dirty="0"/>
              <a:t>.</a:t>
            </a:r>
            <a:endParaRPr lang="en-US" dirty="0"/>
          </a:p>
        </p:txBody>
      </p:sp>
    </p:spTree>
    <p:extLst>
      <p:ext uri="{BB962C8B-B14F-4D97-AF65-F5344CB8AC3E}">
        <p14:creationId xmlns:p14="http://schemas.microsoft.com/office/powerpoint/2010/main" val="3403758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82776-1E76-144A-6E61-48E58A56751C}"/>
              </a:ext>
            </a:extLst>
          </p:cNvPr>
          <p:cNvSpPr>
            <a:spLocks noGrp="1"/>
          </p:cNvSpPr>
          <p:nvPr>
            <p:ph type="title"/>
          </p:nvPr>
        </p:nvSpPr>
        <p:spPr>
          <a:xfrm>
            <a:off x="426997" y="3018408"/>
            <a:ext cx="8961120" cy="3247475"/>
          </a:xfrm>
        </p:spPr>
        <p:txBody>
          <a:bodyPr anchor="b">
            <a:normAutofit/>
          </a:bodyPr>
          <a:lstStyle/>
          <a:p>
            <a:r>
              <a:rPr lang="en-US"/>
              <a:t>Objectifs pédagogiques et professionnels</a:t>
            </a:r>
          </a:p>
        </p:txBody>
      </p:sp>
    </p:spTree>
    <p:extLst>
      <p:ext uri="{BB962C8B-B14F-4D97-AF65-F5344CB8AC3E}">
        <p14:creationId xmlns:p14="http://schemas.microsoft.com/office/powerpoint/2010/main" val="5031623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F49F-D7A1-6826-2DC2-07773B919AB4}"/>
              </a:ext>
            </a:extLst>
          </p:cNvPr>
          <p:cNvSpPr>
            <a:spLocks noGrp="1"/>
          </p:cNvSpPr>
          <p:nvPr>
            <p:ph type="title"/>
          </p:nvPr>
        </p:nvSpPr>
        <p:spPr>
          <a:xfrm>
            <a:off x="8029814" y="512011"/>
            <a:ext cx="3628786" cy="1259920"/>
          </a:xfrm>
        </p:spPr>
        <p:txBody>
          <a:bodyPr anchor="b">
            <a:normAutofit/>
          </a:bodyPr>
          <a:lstStyle/>
          <a:p>
            <a:r>
              <a:rPr lang="en-US"/>
              <a:t>Objectifs du projet</a:t>
            </a:r>
          </a:p>
        </p:txBody>
      </p:sp>
      <p:pic>
        <p:nvPicPr>
          <p:cNvPr id="5" name="Content Placeholder 4" descr="Un groupe de personnes se rassemblait, regardant quelque chose hors champ.">
            <a:extLst>
              <a:ext uri="{FF2B5EF4-FFF2-40B4-BE49-F238E27FC236}">
                <a16:creationId xmlns:a16="http://schemas.microsoft.com/office/drawing/2014/main" id="{3C2AE5F4-27A7-4E7B-A54B-B47D951B54B0}"/>
              </a:ext>
            </a:extLst>
          </p:cNvPr>
          <p:cNvPicPr>
            <a:picLocks noGrp="1" noChangeAspect="1"/>
          </p:cNvPicPr>
          <p:nvPr>
            <p:ph type="pic" sz="quarter" idx="13"/>
          </p:nvPr>
        </p:nvPicPr>
        <p:blipFill>
          <a:blip r:embed="rId3"/>
          <a:srcRect r="18320" b="1"/>
          <a:stretch>
            <a:fillRect/>
          </a:stretch>
        </p:blipFill>
        <p:spPr>
          <a:xfrm>
            <a:off x="533400" y="533399"/>
            <a:ext cx="7086600" cy="5791199"/>
          </a:xfrm>
        </p:spPr>
      </p:pic>
      <p:sp>
        <p:nvSpPr>
          <p:cNvPr id="4" name="Content Placeholder 3">
            <a:extLst>
              <a:ext uri="{FF2B5EF4-FFF2-40B4-BE49-F238E27FC236}">
                <a16:creationId xmlns:a16="http://schemas.microsoft.com/office/drawing/2014/main" id="{4012C691-44D2-7F00-953E-E4D05DCBA57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lnSpc>
                <a:spcPct val="110000"/>
              </a:lnSpc>
              <a:spcBef>
                <a:spcPts val="2500"/>
              </a:spcBef>
              <a:buFont typeface="Arial" panose="020B0604020202020204" pitchFamily="34" charset="0"/>
              <a:buNone/>
            </a:pPr>
            <a:r>
              <a:rPr lang="en-US" b="1"/>
              <a:t>Compréhension de la problématique</a:t>
            </a:r>
          </a:p>
          <a:p>
            <a:pPr marL="0" lvl="1" indent="0">
              <a:lnSpc>
                <a:spcPct val="110000"/>
              </a:lnSpc>
              <a:buFont typeface="Arial" panose="020B0604020202020204" pitchFamily="34" charset="0"/>
              <a:buNone/>
            </a:pPr>
            <a:r>
              <a:t>Le projet vise à développer une compréhension approfondie d’une problématique entrepreneuriale réelle et à proposer une solution numérique adaptée.</a:t>
            </a:r>
            <a:endParaRPr lang="en-US"/>
          </a:p>
          <a:p>
            <a:pPr marL="0" indent="0">
              <a:lnSpc>
                <a:spcPct val="110000"/>
              </a:lnSpc>
              <a:spcBef>
                <a:spcPts val="2500"/>
              </a:spcBef>
              <a:buFont typeface="Arial" panose="020B0604020202020204" pitchFamily="34" charset="0"/>
              <a:buNone/>
            </a:pPr>
            <a:r>
              <a:rPr lang="en-US" b="1"/>
              <a:t>Démarche de projet technique</a:t>
            </a:r>
          </a:p>
          <a:p>
            <a:pPr marL="0" lvl="1" indent="0">
              <a:lnSpc>
                <a:spcPct val="110000"/>
              </a:lnSpc>
              <a:buFont typeface="Arial" panose="020B0604020202020204" pitchFamily="34" charset="0"/>
              <a:buNone/>
            </a:pPr>
            <a:r>
              <a:t>Les étudiants apprennent à structurer leur travail, définir des priorités et gérer les contraintes de temps et ressources.</a:t>
            </a:r>
            <a:endParaRPr lang="en-US"/>
          </a:p>
          <a:p>
            <a:pPr marL="0" indent="0">
              <a:lnSpc>
                <a:spcPct val="110000"/>
              </a:lnSpc>
              <a:spcBef>
                <a:spcPts val="2500"/>
              </a:spcBef>
              <a:buFont typeface="Arial" panose="020B0604020202020204" pitchFamily="34" charset="0"/>
              <a:buNone/>
            </a:pPr>
            <a:r>
              <a:rPr lang="en-US" b="1"/>
              <a:t>Collaboration et créativité</a:t>
            </a:r>
          </a:p>
          <a:p>
            <a:pPr marL="0" lvl="1" indent="0">
              <a:lnSpc>
                <a:spcPct val="110000"/>
              </a:lnSpc>
              <a:buFont typeface="Arial" panose="020B0604020202020204" pitchFamily="34" charset="0"/>
              <a:buNone/>
            </a:pPr>
            <a:r>
              <a:t>Le projet encourage l’intelligence collective, la créativité et l’esprit d’initiative à travers le travail en groupe.</a:t>
            </a:r>
            <a:endParaRPr lang="en-US"/>
          </a:p>
        </p:txBody>
      </p:sp>
    </p:spTree>
    <p:extLst>
      <p:ext uri="{BB962C8B-B14F-4D97-AF65-F5344CB8AC3E}">
        <p14:creationId xmlns:p14="http://schemas.microsoft.com/office/powerpoint/2010/main" val="2860551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FA743-37C6-455E-AC4C-C534FADC782E}"/>
              </a:ext>
            </a:extLst>
          </p:cNvPr>
          <p:cNvSpPr>
            <a:spLocks noGrp="1"/>
          </p:cNvSpPr>
          <p:nvPr>
            <p:ph type="ctrTitle"/>
          </p:nvPr>
        </p:nvSpPr>
        <p:spPr/>
        <p:txBody>
          <a:bodyPr/>
          <a:lstStyle/>
          <a:p>
            <a:r>
              <a:rPr lang="en-US"/>
              <a:t>Thématique IA &amp; Agriculture</a:t>
            </a:r>
          </a:p>
        </p:txBody>
      </p:sp>
    </p:spTree>
    <p:extLst>
      <p:ext uri="{BB962C8B-B14F-4D97-AF65-F5344CB8AC3E}">
        <p14:creationId xmlns:p14="http://schemas.microsoft.com/office/powerpoint/2010/main" val="3314972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A4B1D-9CFE-8E71-3802-3196E1967335}"/>
              </a:ext>
            </a:extLst>
          </p:cNvPr>
          <p:cNvSpPr>
            <a:spLocks noGrp="1"/>
          </p:cNvSpPr>
          <p:nvPr>
            <p:ph type="title"/>
          </p:nvPr>
        </p:nvSpPr>
        <p:spPr>
          <a:xfrm>
            <a:off x="8029814" y="512011"/>
            <a:ext cx="3628786" cy="1259920"/>
          </a:xfrm>
        </p:spPr>
        <p:txBody>
          <a:bodyPr anchor="b">
            <a:normAutofit/>
          </a:bodyPr>
          <a:lstStyle/>
          <a:p>
            <a:r>
              <a:rPr lang="en-US" sz="2700"/>
              <a:t>Comprendre les enjeux de l’IA dans le secteur agricole</a:t>
            </a:r>
          </a:p>
        </p:txBody>
      </p:sp>
      <p:pic>
        <p:nvPicPr>
          <p:cNvPr id="5" name="Content Placeholder 4" descr="Zone agricole abstraite, plantation de légumes - vue aérienne">
            <a:extLst>
              <a:ext uri="{FF2B5EF4-FFF2-40B4-BE49-F238E27FC236}">
                <a16:creationId xmlns:a16="http://schemas.microsoft.com/office/drawing/2014/main" id="{FC10B9BA-00B0-4292-89F3-9ADFF799D917}"/>
              </a:ext>
            </a:extLst>
          </p:cNvPr>
          <p:cNvPicPr>
            <a:picLocks noGrp="1" noChangeAspect="1"/>
          </p:cNvPicPr>
          <p:nvPr>
            <p:ph type="pic" sz="quarter" idx="13"/>
          </p:nvPr>
        </p:nvPicPr>
        <p:blipFill>
          <a:blip r:embed="rId3"/>
          <a:srcRect l="9946" r="8373" b="1"/>
          <a:stretch>
            <a:fillRect/>
          </a:stretch>
        </p:blipFill>
        <p:spPr>
          <a:xfrm>
            <a:off x="533400" y="533399"/>
            <a:ext cx="7086600" cy="5791199"/>
          </a:xfrm>
        </p:spPr>
      </p:pic>
      <p:sp>
        <p:nvSpPr>
          <p:cNvPr id="4" name="Content Placeholder 3">
            <a:extLst>
              <a:ext uri="{FF2B5EF4-FFF2-40B4-BE49-F238E27FC236}">
                <a16:creationId xmlns:a16="http://schemas.microsoft.com/office/drawing/2014/main" id="{25205D6A-422A-B60E-C4AC-FBA94E2DD14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lnSpc>
                <a:spcPct val="110000"/>
              </a:lnSpc>
              <a:spcBef>
                <a:spcPts val="2500"/>
              </a:spcBef>
              <a:buFont typeface="Arial" panose="020B0604020202020204" pitchFamily="34" charset="0"/>
              <a:buNone/>
            </a:pPr>
            <a:r>
              <a:rPr lang="en-US" b="1"/>
              <a:t>Défis agricoles contemporains</a:t>
            </a:r>
          </a:p>
          <a:p>
            <a:pPr marL="0" lvl="1" indent="0">
              <a:lnSpc>
                <a:spcPct val="110000"/>
              </a:lnSpc>
              <a:buFont typeface="Arial" panose="020B0604020202020204" pitchFamily="34" charset="0"/>
              <a:buNone/>
            </a:pPr>
            <a:r>
              <a:t>Le secteur agricole doit optimiser les rendements tout en gérant durablement les ressources naturelles et la biodiversité.</a:t>
            </a:r>
            <a:endParaRPr lang="en-US"/>
          </a:p>
          <a:p>
            <a:pPr marL="0" indent="0">
              <a:lnSpc>
                <a:spcPct val="110000"/>
              </a:lnSpc>
              <a:spcBef>
                <a:spcPts val="2500"/>
              </a:spcBef>
              <a:buFont typeface="Arial" panose="020B0604020202020204" pitchFamily="34" charset="0"/>
              <a:buNone/>
            </a:pPr>
            <a:r>
              <a:rPr lang="en-US" b="1"/>
              <a:t>Applications concrètes de l’IA</a:t>
            </a:r>
          </a:p>
          <a:p>
            <a:pPr marL="0" lvl="1" indent="0">
              <a:lnSpc>
                <a:spcPct val="110000"/>
              </a:lnSpc>
              <a:buFont typeface="Arial" panose="020B0604020202020204" pitchFamily="34" charset="0"/>
              <a:buNone/>
            </a:pPr>
            <a:r>
              <a:t>La vision par ordinateur détecte les maladies des plantes, tandis que l’analyse des données prédit les rendements agricoles.</a:t>
            </a:r>
            <a:endParaRPr lang="en-US"/>
          </a:p>
          <a:p>
            <a:pPr marL="0" indent="0">
              <a:lnSpc>
                <a:spcPct val="110000"/>
              </a:lnSpc>
              <a:spcBef>
                <a:spcPts val="2500"/>
              </a:spcBef>
              <a:buFont typeface="Arial" panose="020B0604020202020204" pitchFamily="34" charset="0"/>
              <a:buNone/>
            </a:pPr>
            <a:r>
              <a:rPr lang="en-US" b="1"/>
              <a:t>Intégration intelligente de l’IA</a:t>
            </a:r>
          </a:p>
          <a:p>
            <a:pPr marL="0" lvl="1" indent="0">
              <a:lnSpc>
                <a:spcPct val="110000"/>
              </a:lnSpc>
              <a:buFont typeface="Arial" panose="020B0604020202020204" pitchFamily="34" charset="0"/>
              <a:buNone/>
            </a:pPr>
            <a:r>
              <a:t>L’objectif est d’intégrer l’IA dans des solutions numériques globales adaptées aux enjeux techniques, économiques et environnementaux.</a:t>
            </a:r>
            <a:endParaRPr lang="en-US"/>
          </a:p>
        </p:txBody>
      </p:sp>
    </p:spTree>
    <p:extLst>
      <p:ext uri="{BB962C8B-B14F-4D97-AF65-F5344CB8AC3E}">
        <p14:creationId xmlns:p14="http://schemas.microsoft.com/office/powerpoint/2010/main" val="1915163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97A71-0E9F-3BD2-EFFC-8F7BD65147A8}"/>
              </a:ext>
            </a:extLst>
          </p:cNvPr>
          <p:cNvSpPr>
            <a:spLocks noGrp="1"/>
          </p:cNvSpPr>
          <p:nvPr>
            <p:ph type="ctrTitle"/>
          </p:nvPr>
        </p:nvSpPr>
        <p:spPr/>
        <p:txBody>
          <a:bodyPr/>
          <a:lstStyle/>
          <a:p>
            <a:r>
              <a:rPr lang="en-US"/>
              <a:t>Exigences techniques globales</a:t>
            </a:r>
          </a:p>
        </p:txBody>
      </p:sp>
    </p:spTree>
    <p:extLst>
      <p:ext uri="{BB962C8B-B14F-4D97-AF65-F5344CB8AC3E}">
        <p14:creationId xmlns:p14="http://schemas.microsoft.com/office/powerpoint/2010/main" val="1801014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CC639-FCD8-6431-EEEB-4F38F187968E}"/>
              </a:ext>
            </a:extLst>
          </p:cNvPr>
          <p:cNvSpPr>
            <a:spLocks noGrp="1"/>
          </p:cNvSpPr>
          <p:nvPr>
            <p:ph type="title"/>
          </p:nvPr>
        </p:nvSpPr>
        <p:spPr/>
        <p:txBody>
          <a:bodyPr/>
          <a:lstStyle/>
          <a:p>
            <a:r>
              <a:rPr lang="en-US"/>
              <a:t>Contraintes et attentes techniques</a:t>
            </a:r>
          </a:p>
        </p:txBody>
      </p:sp>
      <p:pic>
        <p:nvPicPr>
          <p:cNvPr id="5" name="Content Placeholder 4" descr="Résolution 4K">
            <a:extLst>
              <a:ext uri="{FF2B5EF4-FFF2-40B4-BE49-F238E27FC236}">
                <a16:creationId xmlns:a16="http://schemas.microsoft.com/office/drawing/2014/main" id="{852F7F46-4277-445A-B428-7278BD0D5DE5}"/>
              </a:ext>
            </a:extLst>
          </p:cNvPr>
          <p:cNvPicPr>
            <a:picLocks noGrp="1" noChangeAspect="1"/>
          </p:cNvPicPr>
          <p:nvPr>
            <p:ph sz="quarter" idx="15"/>
          </p:nvPr>
        </p:nvPicPr>
        <p:blipFill>
          <a:blip r:embed="rId3"/>
          <a:stretch>
            <a:fillRect/>
          </a:stretch>
        </p:blipFill>
        <p:spPr>
          <a:xfrm>
            <a:off x="419100" y="2417068"/>
            <a:ext cx="5305425" cy="2984301"/>
          </a:xfrm>
          <a:prstGeom prst="rect">
            <a:avLst/>
          </a:prstGeom>
        </p:spPr>
      </p:pic>
      <p:sp>
        <p:nvSpPr>
          <p:cNvPr id="4" name="Content Placeholder 3">
            <a:extLst>
              <a:ext uri="{FF2B5EF4-FFF2-40B4-BE49-F238E27FC236}">
                <a16:creationId xmlns:a16="http://schemas.microsoft.com/office/drawing/2014/main" id="{FC3DD22E-CAC0-C75A-25EC-FFD0EEA3A13D}"/>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rPr b="1" dirty="0"/>
              <a:t>Développement </a:t>
            </a:r>
            <a:r>
              <a:rPr b="1" dirty="0" err="1"/>
              <a:t>d’application</a:t>
            </a:r>
            <a:r>
              <a:rPr b="1" dirty="0"/>
              <a:t> mobile</a:t>
            </a:r>
          </a:p>
          <a:p>
            <a:pPr marL="742950" lvl="1" indent="-285750">
              <a:buFont typeface="Arial" panose="020B0604020202020204" pitchFamily="34" charset="0"/>
              <a:buChar char="•"/>
            </a:pPr>
            <a:r>
              <a:rPr dirty="0"/>
              <a:t>Les </a:t>
            </a:r>
            <a:r>
              <a:rPr dirty="0" err="1"/>
              <a:t>étudiants</a:t>
            </a:r>
            <a:r>
              <a:rPr dirty="0"/>
              <a:t> </a:t>
            </a:r>
            <a:r>
              <a:rPr dirty="0" err="1"/>
              <a:t>doivent</a:t>
            </a:r>
            <a:r>
              <a:rPr dirty="0"/>
              <a:t> </a:t>
            </a:r>
            <a:r>
              <a:rPr dirty="0" err="1"/>
              <a:t>concevoir</a:t>
            </a:r>
            <a:r>
              <a:rPr dirty="0"/>
              <a:t> </a:t>
            </a:r>
            <a:r>
              <a:rPr dirty="0" err="1"/>
              <a:t>une</a:t>
            </a:r>
            <a:r>
              <a:rPr dirty="0"/>
              <a:t> application mobile </a:t>
            </a:r>
            <a:r>
              <a:rPr dirty="0" err="1"/>
              <a:t>complète</a:t>
            </a:r>
            <a:r>
              <a:rPr dirty="0"/>
              <a:t> avec interface </a:t>
            </a:r>
            <a:r>
              <a:rPr dirty="0" err="1"/>
              <a:t>utilisateur</a:t>
            </a:r>
            <a:r>
              <a:rPr dirty="0"/>
              <a:t> et </a:t>
            </a:r>
            <a:r>
              <a:rPr dirty="0" err="1"/>
              <a:t>logique</a:t>
            </a:r>
            <a:r>
              <a:rPr dirty="0"/>
              <a:t> </a:t>
            </a:r>
            <a:r>
              <a:rPr dirty="0" err="1"/>
              <a:t>serveur</a:t>
            </a:r>
            <a:r>
              <a:rPr dirty="0"/>
              <a:t> </a:t>
            </a:r>
            <a:r>
              <a:rPr dirty="0" err="1"/>
              <a:t>intégrée</a:t>
            </a:r>
            <a:r>
              <a:rPr dirty="0"/>
              <a:t>.</a:t>
            </a:r>
          </a:p>
          <a:p>
            <a:pPr>
              <a:buFont typeface="Arial" panose="020B0604020202020204" pitchFamily="34" charset="0"/>
              <a:buChar char="•"/>
            </a:pPr>
            <a:r>
              <a:rPr b="1" dirty="0" err="1"/>
              <a:t>Fonctionnalité</a:t>
            </a:r>
            <a:r>
              <a:rPr b="1" dirty="0"/>
              <a:t> </a:t>
            </a:r>
            <a:r>
              <a:rPr b="1" dirty="0" err="1"/>
              <a:t>d’intelligence</a:t>
            </a:r>
            <a:r>
              <a:rPr b="1" dirty="0"/>
              <a:t> </a:t>
            </a:r>
            <a:r>
              <a:rPr b="1" dirty="0" err="1"/>
              <a:t>artificielle</a:t>
            </a:r>
            <a:endParaRPr b="1" dirty="0"/>
          </a:p>
          <a:p>
            <a:pPr marL="742950" lvl="1" indent="-285750">
              <a:buFont typeface="Arial" panose="020B0604020202020204" pitchFamily="34" charset="0"/>
              <a:buChar char="•"/>
            </a:pPr>
            <a:r>
              <a:rPr dirty="0" err="1"/>
              <a:t>L’application</a:t>
            </a:r>
            <a:r>
              <a:rPr dirty="0"/>
              <a:t> doit </a:t>
            </a:r>
            <a:r>
              <a:rPr dirty="0" err="1"/>
              <a:t>inclure</a:t>
            </a:r>
            <a:r>
              <a:rPr dirty="0"/>
              <a:t> </a:t>
            </a:r>
            <a:r>
              <a:rPr dirty="0" err="1"/>
              <a:t>une</a:t>
            </a:r>
            <a:r>
              <a:rPr dirty="0"/>
              <a:t> </a:t>
            </a:r>
            <a:r>
              <a:rPr dirty="0" err="1"/>
              <a:t>fonction</a:t>
            </a:r>
            <a:r>
              <a:rPr dirty="0"/>
              <a:t> IA </a:t>
            </a:r>
            <a:r>
              <a:rPr dirty="0" err="1"/>
              <a:t>comme</a:t>
            </a:r>
            <a:r>
              <a:rPr dirty="0"/>
              <a:t> un diagnostic, </a:t>
            </a:r>
            <a:r>
              <a:rPr dirty="0" err="1"/>
              <a:t>une</a:t>
            </a:r>
            <a:r>
              <a:rPr dirty="0"/>
              <a:t> </a:t>
            </a:r>
            <a:r>
              <a:rPr dirty="0" err="1"/>
              <a:t>prédiction</a:t>
            </a:r>
            <a:r>
              <a:rPr dirty="0"/>
              <a:t> </a:t>
            </a:r>
            <a:r>
              <a:rPr dirty="0" err="1"/>
              <a:t>ou</a:t>
            </a:r>
            <a:r>
              <a:rPr dirty="0"/>
              <a:t> </a:t>
            </a:r>
            <a:r>
              <a:rPr dirty="0" err="1"/>
              <a:t>une</a:t>
            </a:r>
            <a:r>
              <a:rPr dirty="0"/>
              <a:t> </a:t>
            </a:r>
            <a:r>
              <a:rPr dirty="0" err="1"/>
              <a:t>recommandation</a:t>
            </a:r>
            <a:r>
              <a:rPr dirty="0"/>
              <a:t> </a:t>
            </a:r>
            <a:r>
              <a:rPr dirty="0" err="1"/>
              <a:t>automatisée</a:t>
            </a:r>
            <a:r>
              <a:rPr dirty="0"/>
              <a:t>.</a:t>
            </a:r>
          </a:p>
          <a:p>
            <a:pPr>
              <a:buFont typeface="Arial" panose="020B0604020202020204" pitchFamily="34" charset="0"/>
              <a:buChar char="•"/>
            </a:pPr>
            <a:r>
              <a:rPr b="1" dirty="0" err="1"/>
              <a:t>Déploiement</a:t>
            </a:r>
            <a:r>
              <a:rPr b="1" dirty="0"/>
              <a:t> sur cloud</a:t>
            </a:r>
          </a:p>
          <a:p>
            <a:pPr marL="742950" lvl="1" indent="-285750">
              <a:buFont typeface="Arial" panose="020B0604020202020204" pitchFamily="34" charset="0"/>
              <a:buChar char="•"/>
            </a:pPr>
            <a:r>
              <a:rPr dirty="0"/>
              <a:t>Le </a:t>
            </a:r>
            <a:r>
              <a:rPr dirty="0" err="1"/>
              <a:t>projet</a:t>
            </a:r>
            <a:r>
              <a:rPr dirty="0"/>
              <a:t> </a:t>
            </a:r>
            <a:r>
              <a:rPr dirty="0" err="1"/>
              <a:t>nécessite</a:t>
            </a:r>
            <a:r>
              <a:rPr dirty="0"/>
              <a:t> la configuration d’un </a:t>
            </a:r>
            <a:r>
              <a:rPr dirty="0" err="1"/>
              <a:t>environnement</a:t>
            </a:r>
            <a:r>
              <a:rPr dirty="0"/>
              <a:t> cloud et le </a:t>
            </a:r>
            <a:r>
              <a:rPr dirty="0" err="1"/>
              <a:t>déploiement</a:t>
            </a:r>
            <a:r>
              <a:rPr dirty="0"/>
              <a:t> </a:t>
            </a:r>
            <a:r>
              <a:rPr dirty="0" err="1"/>
              <a:t>sécurisé</a:t>
            </a:r>
            <a:r>
              <a:rPr dirty="0"/>
              <a:t> de </a:t>
            </a:r>
            <a:r>
              <a:rPr dirty="0" err="1"/>
              <a:t>l’application</a:t>
            </a:r>
            <a:r>
              <a:rPr dirty="0"/>
              <a:t>.</a:t>
            </a:r>
          </a:p>
          <a:p>
            <a:pPr>
              <a:buFont typeface="Arial" panose="020B0604020202020204" pitchFamily="34" charset="0"/>
              <a:buChar char="•"/>
            </a:pPr>
            <a:r>
              <a:rPr b="1" dirty="0"/>
              <a:t>Architecture réseau et IoT</a:t>
            </a:r>
          </a:p>
          <a:p>
            <a:pPr marL="742950" lvl="1" indent="-285750">
              <a:buFont typeface="Arial" panose="020B0604020202020204" pitchFamily="34" charset="0"/>
              <a:buChar char="•"/>
            </a:pPr>
            <a:r>
              <a:rPr dirty="0" err="1"/>
              <a:t>L’architecture</a:t>
            </a:r>
            <a:r>
              <a:rPr dirty="0"/>
              <a:t> réseau doit </a:t>
            </a:r>
            <a:r>
              <a:rPr dirty="0" err="1"/>
              <a:t>intégrer</a:t>
            </a:r>
            <a:r>
              <a:rPr dirty="0"/>
              <a:t> des </a:t>
            </a:r>
            <a:r>
              <a:rPr dirty="0" err="1"/>
              <a:t>capteurs</a:t>
            </a:r>
            <a:r>
              <a:rPr dirty="0"/>
              <a:t> IoT </a:t>
            </a:r>
            <a:r>
              <a:rPr dirty="0" err="1"/>
              <a:t>simulés</a:t>
            </a:r>
            <a:r>
              <a:rPr dirty="0"/>
              <a:t> </a:t>
            </a:r>
            <a:r>
              <a:rPr dirty="0" err="1"/>
              <a:t>ou</a:t>
            </a:r>
            <a:r>
              <a:rPr dirty="0"/>
              <a:t> </a:t>
            </a:r>
            <a:r>
              <a:rPr dirty="0" err="1"/>
              <a:t>réels</a:t>
            </a:r>
            <a:r>
              <a:rPr dirty="0"/>
              <a:t> avec </a:t>
            </a:r>
            <a:r>
              <a:rPr dirty="0" err="1"/>
              <a:t>une</a:t>
            </a:r>
            <a:r>
              <a:rPr dirty="0"/>
              <a:t> infrastructure </a:t>
            </a:r>
            <a:r>
              <a:rPr dirty="0" err="1"/>
              <a:t>simplifiée</a:t>
            </a:r>
            <a:r>
              <a:rPr dirty="0"/>
              <a:t>.</a:t>
            </a:r>
            <a:endParaRPr lang="en-US" dirty="0"/>
          </a:p>
        </p:txBody>
      </p:sp>
    </p:spTree>
    <p:extLst>
      <p:ext uri="{BB962C8B-B14F-4D97-AF65-F5344CB8AC3E}">
        <p14:creationId xmlns:p14="http://schemas.microsoft.com/office/powerpoint/2010/main" val="103341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88175-B4DB-4BC6-6A8C-7B94A34351EF}"/>
              </a:ext>
            </a:extLst>
          </p:cNvPr>
          <p:cNvSpPr>
            <a:spLocks noGrp="1"/>
          </p:cNvSpPr>
          <p:nvPr>
            <p:ph type="title"/>
          </p:nvPr>
        </p:nvSpPr>
        <p:spPr>
          <a:xfrm>
            <a:off x="426997" y="3018408"/>
            <a:ext cx="8961120" cy="3247475"/>
          </a:xfrm>
        </p:spPr>
        <p:txBody>
          <a:bodyPr anchor="b">
            <a:normAutofit/>
          </a:bodyPr>
          <a:lstStyle/>
          <a:p>
            <a:r>
              <a:rPr lang="en-US"/>
              <a:t>Choix des technologies</a:t>
            </a:r>
          </a:p>
        </p:txBody>
      </p:sp>
    </p:spTree>
    <p:extLst>
      <p:ext uri="{BB962C8B-B14F-4D97-AF65-F5344CB8AC3E}">
        <p14:creationId xmlns:p14="http://schemas.microsoft.com/office/powerpoint/2010/main" val="6759548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D4CD-B083-E8B2-1F35-525FBBA44A12}"/>
              </a:ext>
            </a:extLst>
          </p:cNvPr>
          <p:cNvSpPr>
            <a:spLocks noGrp="1"/>
          </p:cNvSpPr>
          <p:nvPr>
            <p:ph type="title"/>
          </p:nvPr>
        </p:nvSpPr>
        <p:spPr>
          <a:xfrm>
            <a:off x="4848555" y="512011"/>
            <a:ext cx="6792069" cy="1259920"/>
          </a:xfrm>
        </p:spPr>
        <p:txBody>
          <a:bodyPr anchor="b">
            <a:normAutofit/>
          </a:bodyPr>
          <a:lstStyle/>
          <a:p>
            <a:r>
              <a:rPr lang="en-US"/>
              <a:t>Technologies imposées et justification des choix</a:t>
            </a:r>
          </a:p>
        </p:txBody>
      </p:sp>
      <p:pic>
        <p:nvPicPr>
          <p:cNvPr id="5" name="Content Placeholder 4" descr="Concept d’informatique en nuage isolé sur fond blanc">
            <a:extLst>
              <a:ext uri="{FF2B5EF4-FFF2-40B4-BE49-F238E27FC236}">
                <a16:creationId xmlns:a16="http://schemas.microsoft.com/office/drawing/2014/main" id="{54A7D1C9-1E4B-4429-9307-7CBAD2D5981C}"/>
              </a:ext>
            </a:extLst>
          </p:cNvPr>
          <p:cNvPicPr>
            <a:picLocks noGrp="1" noChangeAspect="1"/>
          </p:cNvPicPr>
          <p:nvPr>
            <p:ph type="pic" sz="quarter" idx="13"/>
          </p:nvPr>
        </p:nvPicPr>
        <p:blipFill>
          <a:blip r:embed="rId3"/>
          <a:srcRect l="23825" r="25846"/>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A6F20D9D-066A-52BD-15EA-E18AF3670D3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Sélection diversifiée de technologies</a:t>
            </a:r>
          </a:p>
          <a:p>
            <a:pPr marL="0" lvl="1" indent="0">
              <a:lnSpc>
                <a:spcPct val="110000"/>
              </a:lnSpc>
              <a:buFont typeface="Arial" panose="020B0604020202020204" pitchFamily="34" charset="0"/>
              <a:buNone/>
            </a:pPr>
            <a:r>
              <a:t>Les étudiants choisissent trois technologies couvrant plusieurs domaines clés comme le développement mobile, backend, bases de données, infrastructure et IA.</a:t>
            </a:r>
            <a:endParaRPr lang="en-US"/>
          </a:p>
          <a:p>
            <a:pPr marL="0" indent="0">
              <a:lnSpc>
                <a:spcPct val="110000"/>
              </a:lnSpc>
              <a:spcBef>
                <a:spcPts val="2500"/>
              </a:spcBef>
              <a:buFont typeface="Arial" panose="020B0604020202020204" pitchFamily="34" charset="0"/>
              <a:buNone/>
            </a:pPr>
            <a:r>
              <a:rPr lang="en-US" b="1"/>
              <a:t>Justification des choix techniques</a:t>
            </a:r>
          </a:p>
          <a:p>
            <a:pPr marL="0" lvl="1" indent="0">
              <a:lnSpc>
                <a:spcPct val="110000"/>
              </a:lnSpc>
              <a:buFont typeface="Arial" panose="020B0604020202020204" pitchFamily="34" charset="0"/>
              <a:buNone/>
            </a:pPr>
            <a:r>
              <a:t>Chaque choix doit être justifié en fonction de la pertinence pédagogique, compatibilité, contraintes de déploiement et sécurité.</a:t>
            </a:r>
            <a:endParaRPr lang="en-US"/>
          </a:p>
          <a:p>
            <a:pPr marL="0" indent="0">
              <a:lnSpc>
                <a:spcPct val="110000"/>
              </a:lnSpc>
              <a:spcBef>
                <a:spcPts val="2500"/>
              </a:spcBef>
              <a:buFont typeface="Arial" panose="020B0604020202020204" pitchFamily="34" charset="0"/>
              <a:buNone/>
            </a:pPr>
            <a:r>
              <a:rPr lang="en-US" b="1"/>
              <a:t>Développement de l’esprit critique</a:t>
            </a:r>
          </a:p>
          <a:p>
            <a:pPr marL="0" lvl="1" indent="0">
              <a:lnSpc>
                <a:spcPct val="110000"/>
              </a:lnSpc>
              <a:buFont typeface="Arial" panose="020B0604020202020204" pitchFamily="34" charset="0"/>
              <a:buNone/>
            </a:pPr>
            <a:r>
              <a:t>L’exercice aide à développer l’esprit critique et la capacité à argumenter les décisions techniques prises par les étudiants.</a:t>
            </a:r>
            <a:endParaRPr lang="en-US"/>
          </a:p>
          <a:p>
            <a:pPr marL="0" indent="0">
              <a:lnSpc>
                <a:spcPct val="110000"/>
              </a:lnSpc>
              <a:spcBef>
                <a:spcPts val="2500"/>
              </a:spcBef>
              <a:buFont typeface="Arial" panose="020B0604020202020204" pitchFamily="34" charset="0"/>
              <a:buNone/>
            </a:pPr>
            <a:r>
              <a:rPr lang="en-US" b="1"/>
              <a:t>Anticipation de l’architecture globale</a:t>
            </a:r>
          </a:p>
          <a:p>
            <a:pPr marL="0" lvl="1" indent="0">
              <a:lnSpc>
                <a:spcPct val="110000"/>
              </a:lnSpc>
              <a:buFont typeface="Arial" panose="020B0604020202020204" pitchFamily="34" charset="0"/>
              <a:buNone/>
            </a:pPr>
            <a:r>
              <a:t>Les étudiants apprennent à anticiper l’impact des choix technologiques sur la maintenance, l’évolutivité et la performance.</a:t>
            </a:r>
            <a:endParaRPr lang="en-US"/>
          </a:p>
        </p:txBody>
      </p:sp>
    </p:spTree>
    <p:extLst>
      <p:ext uri="{BB962C8B-B14F-4D97-AF65-F5344CB8AC3E}">
        <p14:creationId xmlns:p14="http://schemas.microsoft.com/office/powerpoint/2010/main" val="11897919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2FE31-B602-16F2-40E4-F8AF8BF0B2B0}"/>
              </a:ext>
            </a:extLst>
          </p:cNvPr>
          <p:cNvSpPr>
            <a:spLocks noGrp="1"/>
          </p:cNvSpPr>
          <p:nvPr>
            <p:ph type="title"/>
          </p:nvPr>
        </p:nvSpPr>
        <p:spPr>
          <a:xfrm>
            <a:off x="426997" y="3018408"/>
            <a:ext cx="8961120" cy="3247475"/>
          </a:xfrm>
        </p:spPr>
        <p:txBody>
          <a:bodyPr anchor="b">
            <a:normAutofit/>
          </a:bodyPr>
          <a:lstStyle/>
          <a:p>
            <a:r>
              <a:rPr lang="en-US"/>
              <a:t>Fonctionnalités attendues</a:t>
            </a:r>
          </a:p>
        </p:txBody>
      </p:sp>
    </p:spTree>
    <p:extLst>
      <p:ext uri="{BB962C8B-B14F-4D97-AF65-F5344CB8AC3E}">
        <p14:creationId xmlns:p14="http://schemas.microsoft.com/office/powerpoint/2010/main" val="1272513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F3E85-8873-9884-589E-F5DDCC3DE919}"/>
              </a:ext>
            </a:extLst>
          </p:cNvPr>
          <p:cNvSpPr>
            <a:spLocks noGrp="1"/>
          </p:cNvSpPr>
          <p:nvPr>
            <p:ph type="title"/>
          </p:nvPr>
        </p:nvSpPr>
        <p:spPr>
          <a:xfrm>
            <a:off x="402336" y="401519"/>
            <a:ext cx="6516938" cy="2091068"/>
          </a:xfrm>
        </p:spPr>
        <p:txBody>
          <a:bodyPr anchor="t">
            <a:normAutofit/>
          </a:bodyPr>
          <a:lstStyle/>
          <a:p>
            <a:r>
              <a:rPr lang="en-US" sz="4600"/>
              <a:t>Modules fonctionnels de l’application</a:t>
            </a:r>
          </a:p>
        </p:txBody>
      </p:sp>
      <p:sp>
        <p:nvSpPr>
          <p:cNvPr id="4" name="Content Placeholder 3">
            <a:extLst>
              <a:ext uri="{FF2B5EF4-FFF2-40B4-BE49-F238E27FC236}">
                <a16:creationId xmlns:a16="http://schemas.microsoft.com/office/drawing/2014/main" id="{E80509E2-B48D-9AF9-8539-1C3216FD666B}"/>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6526" y="2897442"/>
            <a:ext cx="6482747" cy="3279838"/>
          </a:xfrm>
        </p:spPr>
        <p:txBody>
          <a:bodyPr>
            <a:normAutofit/>
          </a:bodyPr>
          <a:lstStyle/>
          <a:p>
            <a:pPr marL="0" indent="0">
              <a:spcBef>
                <a:spcPts val="2500"/>
              </a:spcBef>
              <a:buFont typeface="Arial" panose="020B0604020202020204" pitchFamily="34" charset="0"/>
              <a:buNone/>
            </a:pPr>
            <a:r>
              <a:rPr lang="en-US" sz="1400" b="1"/>
              <a:t>Tableau de bord utilisateur</a:t>
            </a:r>
          </a:p>
          <a:p>
            <a:pPr marL="0" lvl="1" indent="0">
              <a:buFont typeface="Arial" panose="020B0604020202020204" pitchFamily="34" charset="0"/>
              <a:buNone/>
            </a:pPr>
            <a:r>
              <a:rPr lang="en-US" sz="1400"/>
              <a:t>Le tableau de bord offre une vue synthétique des données agricoles, diagnostics et alertes IA pour une expérience claire et intuitive.</a:t>
            </a:r>
          </a:p>
          <a:p>
            <a:pPr marL="0" indent="0">
              <a:spcBef>
                <a:spcPts val="2500"/>
              </a:spcBef>
              <a:buFont typeface="Arial" panose="020B0604020202020204" pitchFamily="34" charset="0"/>
              <a:buNone/>
            </a:pPr>
            <a:r>
              <a:rPr lang="en-US" sz="1400" b="1"/>
              <a:t>Module de diagnostic IA</a:t>
            </a:r>
          </a:p>
          <a:p>
            <a:pPr marL="0" lvl="1" indent="0">
              <a:buFont typeface="Arial" panose="020B0604020202020204" pitchFamily="34" charset="0"/>
              <a:buNone/>
            </a:pPr>
            <a:r>
              <a:rPr lang="en-US" sz="1400"/>
              <a:t>Ce module traite les données via un modèle IA simple et affiche des résultats clairs accompagnés d’une carte interactive des parcelles.</a:t>
            </a:r>
          </a:p>
          <a:p>
            <a:pPr marL="0" indent="0">
              <a:spcBef>
                <a:spcPts val="2500"/>
              </a:spcBef>
              <a:buFont typeface="Arial" panose="020B0604020202020204" pitchFamily="34" charset="0"/>
              <a:buNone/>
            </a:pPr>
            <a:r>
              <a:rPr lang="en-US" sz="1400" b="1"/>
              <a:t>Fonctionnalités optionnelles</a:t>
            </a:r>
          </a:p>
          <a:p>
            <a:pPr marL="0" lvl="1" indent="0">
              <a:buFont typeface="Arial" panose="020B0604020202020204" pitchFamily="34" charset="0"/>
              <a:buNone/>
            </a:pPr>
            <a:r>
              <a:rPr lang="en-US" sz="1400"/>
              <a:t>Des modules complémentaires comme espace communautaire et back-office d’administration enrichissent et valorisent l’application.</a:t>
            </a:r>
          </a:p>
        </p:txBody>
      </p:sp>
      <p:pic>
        <p:nvPicPr>
          <p:cNvPr id="5" name="Content Placeholder 4" descr="Des bénévoles ramassent les ordures dans le parc. La conscience environnementale est importante pour sauver notre planète. Ils utilisent leur téléphone portable pour trouver un centre de recyclage">
            <a:extLst>
              <a:ext uri="{FF2B5EF4-FFF2-40B4-BE49-F238E27FC236}">
                <a16:creationId xmlns:a16="http://schemas.microsoft.com/office/drawing/2014/main" id="{607381DC-FD19-4712-901E-964E5AC7ECF3}"/>
              </a:ext>
            </a:extLst>
          </p:cNvPr>
          <p:cNvPicPr>
            <a:picLocks noGrp="1" noChangeAspect="1"/>
          </p:cNvPicPr>
          <p:nvPr>
            <p:ph type="pic" sz="quarter" idx="14"/>
          </p:nvPr>
        </p:nvPicPr>
        <p:blipFill>
          <a:blip r:embed="rId3"/>
          <a:srcRect l="32787" r="22713" b="-1"/>
          <a:stretch>
            <a:fillRect/>
          </a:stretch>
        </p:blipFill>
        <p:spPr>
          <a:xfrm>
            <a:off x="7619999" y="10"/>
            <a:ext cx="4571999" cy="6857989"/>
          </a:xfrm>
        </p:spPr>
      </p:pic>
    </p:spTree>
    <p:extLst>
      <p:ext uri="{BB962C8B-B14F-4D97-AF65-F5344CB8AC3E}">
        <p14:creationId xmlns:p14="http://schemas.microsoft.com/office/powerpoint/2010/main" val="14851498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3594E-5785-75C4-787A-DB323BD32C7D}"/>
              </a:ext>
            </a:extLst>
          </p:cNvPr>
          <p:cNvSpPr>
            <a:spLocks noGrp="1"/>
          </p:cNvSpPr>
          <p:nvPr>
            <p:ph type="title"/>
          </p:nvPr>
        </p:nvSpPr>
        <p:spPr>
          <a:xfrm>
            <a:off x="426997" y="3018408"/>
            <a:ext cx="8961120" cy="3247475"/>
          </a:xfrm>
        </p:spPr>
        <p:txBody>
          <a:bodyPr anchor="b">
            <a:normAutofit/>
          </a:bodyPr>
          <a:lstStyle/>
          <a:p>
            <a:r>
              <a:rPr lang="en-US"/>
              <a:t>Architecture technique</a:t>
            </a:r>
          </a:p>
        </p:txBody>
      </p:sp>
    </p:spTree>
    <p:extLst>
      <p:ext uri="{BB962C8B-B14F-4D97-AF65-F5344CB8AC3E}">
        <p14:creationId xmlns:p14="http://schemas.microsoft.com/office/powerpoint/2010/main" val="5120717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B818C-B5B3-EF9F-E6E9-BB7886C154DC}"/>
              </a:ext>
            </a:extLst>
          </p:cNvPr>
          <p:cNvSpPr>
            <a:spLocks noGrp="1"/>
          </p:cNvSpPr>
          <p:nvPr>
            <p:ph type="title"/>
          </p:nvPr>
        </p:nvSpPr>
        <p:spPr>
          <a:xfrm>
            <a:off x="4848555" y="512011"/>
            <a:ext cx="6792069" cy="1259920"/>
          </a:xfrm>
        </p:spPr>
        <p:txBody>
          <a:bodyPr anchor="b">
            <a:normAutofit/>
          </a:bodyPr>
          <a:lstStyle/>
          <a:p>
            <a:r>
              <a:rPr lang="en-US"/>
              <a:t>Schéma et logique d’architecture</a:t>
            </a:r>
          </a:p>
        </p:txBody>
      </p:sp>
      <p:pic>
        <p:nvPicPr>
          <p:cNvPr id="5" name="Content Placeholder 4" descr="Ordinateurs de bureau connectés en réseau. Regarde tous mes">
            <a:extLst>
              <a:ext uri="{FF2B5EF4-FFF2-40B4-BE49-F238E27FC236}">
                <a16:creationId xmlns:a16="http://schemas.microsoft.com/office/drawing/2014/main" id="{50F86633-0353-4663-8845-06894E1EC319}"/>
              </a:ext>
            </a:extLst>
          </p:cNvPr>
          <p:cNvPicPr>
            <a:picLocks noGrp="1" noChangeAspect="1"/>
          </p:cNvPicPr>
          <p:nvPr>
            <p:ph type="pic" sz="quarter" idx="13"/>
          </p:nvPr>
        </p:nvPicPr>
        <p:blipFill>
          <a:blip r:embed="rId3"/>
          <a:stretch/>
        </p:blipFill>
        <p:spPr>
          <a:xfrm>
            <a:off x="533400" y="1971674"/>
            <a:ext cx="3886200" cy="2914650"/>
          </a:xfrm>
        </p:spPr>
      </p:pic>
      <p:sp>
        <p:nvSpPr>
          <p:cNvPr id="4" name="Content Placeholder 3">
            <a:extLst>
              <a:ext uri="{FF2B5EF4-FFF2-40B4-BE49-F238E27FC236}">
                <a16:creationId xmlns:a16="http://schemas.microsoft.com/office/drawing/2014/main" id="{790250AB-BF92-0386-D618-7D4BED015D7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Capteurs IoT et collecte de données</a:t>
            </a:r>
          </a:p>
          <a:p>
            <a:pPr marL="0" lvl="1" indent="0">
              <a:lnSpc>
                <a:spcPct val="110000"/>
              </a:lnSpc>
              <a:buFont typeface="Arial" panose="020B0604020202020204" pitchFamily="34" charset="0"/>
              <a:buNone/>
            </a:pPr>
            <a:r>
              <a:t>Des capteurs IoT réels ou simulés collectent des données et les envoient vers un serveur local ou cloud.</a:t>
            </a:r>
            <a:endParaRPr lang="en-US"/>
          </a:p>
          <a:p>
            <a:pPr marL="0" indent="0">
              <a:lnSpc>
                <a:spcPct val="110000"/>
              </a:lnSpc>
              <a:spcBef>
                <a:spcPts val="2500"/>
              </a:spcBef>
              <a:buFont typeface="Arial" panose="020B0604020202020204" pitchFamily="34" charset="0"/>
              <a:buNone/>
            </a:pPr>
            <a:r>
              <a:rPr lang="en-US" b="1"/>
              <a:t>Traitement et stockage des données</a:t>
            </a:r>
          </a:p>
          <a:p>
            <a:pPr marL="0" lvl="1" indent="0">
              <a:lnSpc>
                <a:spcPct val="110000"/>
              </a:lnSpc>
              <a:buFont typeface="Arial" panose="020B0604020202020204" pitchFamily="34" charset="0"/>
              <a:buNone/>
            </a:pPr>
            <a:r>
              <a:t>Le serveur assure le traitement des données, le stockage sécurisé et l’exécution des modèles d’intelligence artificielle.</a:t>
            </a:r>
            <a:endParaRPr lang="en-US"/>
          </a:p>
          <a:p>
            <a:pPr marL="0" indent="0">
              <a:lnSpc>
                <a:spcPct val="110000"/>
              </a:lnSpc>
              <a:spcBef>
                <a:spcPts val="2500"/>
              </a:spcBef>
              <a:buFont typeface="Arial" panose="020B0604020202020204" pitchFamily="34" charset="0"/>
              <a:buNone/>
            </a:pPr>
            <a:r>
              <a:rPr lang="en-US" b="1"/>
              <a:t>Interaction via API sécurisée</a:t>
            </a:r>
          </a:p>
          <a:p>
            <a:pPr marL="0" lvl="1" indent="0">
              <a:lnSpc>
                <a:spcPct val="110000"/>
              </a:lnSpc>
              <a:buFont typeface="Arial" panose="020B0604020202020204" pitchFamily="34" charset="0"/>
              <a:buNone/>
            </a:pPr>
            <a:r>
              <a:t>L’application mobile accède aux données et fonctionnalités via des API sécurisées connectant le backend.</a:t>
            </a:r>
            <a:endParaRPr lang="en-US"/>
          </a:p>
          <a:p>
            <a:pPr marL="0" indent="0">
              <a:lnSpc>
                <a:spcPct val="110000"/>
              </a:lnSpc>
              <a:spcBef>
                <a:spcPts val="2500"/>
              </a:spcBef>
              <a:buFont typeface="Arial" panose="020B0604020202020204" pitchFamily="34" charset="0"/>
              <a:buNone/>
            </a:pPr>
            <a:r>
              <a:rPr lang="en-US" b="1"/>
              <a:t>Architecture réseau simplifiée</a:t>
            </a:r>
          </a:p>
          <a:p>
            <a:pPr marL="0" lvl="1" indent="0">
              <a:lnSpc>
                <a:spcPct val="110000"/>
              </a:lnSpc>
              <a:buFont typeface="Arial" panose="020B0604020202020204" pitchFamily="34" charset="0"/>
              <a:buNone/>
            </a:pPr>
            <a:r>
              <a:t>Le schéma d’architecture illustre clairement les échanges entre composants pour faciliter la compréhension des systèmes distribués.</a:t>
            </a:r>
            <a:endParaRPr lang="en-US"/>
          </a:p>
        </p:txBody>
      </p:sp>
    </p:spTree>
    <p:extLst>
      <p:ext uri="{BB962C8B-B14F-4D97-AF65-F5344CB8AC3E}">
        <p14:creationId xmlns:p14="http://schemas.microsoft.com/office/powerpoint/2010/main" val="2307800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500E3-9B9D-8384-0DC3-AEA3298F5C5B}"/>
              </a:ext>
            </a:extLst>
          </p:cNvPr>
          <p:cNvSpPr>
            <a:spLocks noGrp="1"/>
          </p:cNvSpPr>
          <p:nvPr>
            <p:ph type="title"/>
          </p:nvPr>
        </p:nvSpPr>
        <p:spPr>
          <a:xfrm>
            <a:off x="426997" y="3018408"/>
            <a:ext cx="8961120" cy="3247475"/>
          </a:xfrm>
        </p:spPr>
        <p:txBody>
          <a:bodyPr anchor="b">
            <a:normAutofit/>
          </a:bodyPr>
          <a:lstStyle/>
          <a:p>
            <a:r>
              <a:rPr lang="en-US"/>
              <a:t>Déploiement et infrastructure</a:t>
            </a:r>
          </a:p>
        </p:txBody>
      </p:sp>
    </p:spTree>
    <p:extLst>
      <p:ext uri="{BB962C8B-B14F-4D97-AF65-F5344CB8AC3E}">
        <p14:creationId xmlns:p14="http://schemas.microsoft.com/office/powerpoint/2010/main" val="36616011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0B28-8417-9F16-9DFB-D451929EF8CF}"/>
              </a:ext>
            </a:extLst>
          </p:cNvPr>
          <p:cNvSpPr>
            <a:spLocks noGrp="1"/>
          </p:cNvSpPr>
          <p:nvPr>
            <p:ph type="title"/>
          </p:nvPr>
        </p:nvSpPr>
        <p:spPr>
          <a:xfrm>
            <a:off x="399679" y="332308"/>
            <a:ext cx="11253667" cy="909921"/>
          </a:xfrm>
        </p:spPr>
        <p:txBody>
          <a:bodyPr anchor="b">
            <a:normAutofit/>
          </a:bodyPr>
          <a:lstStyle/>
          <a:p>
            <a:r>
              <a:rPr lang="en-US"/>
              <a:t>Mise en production sur le cloud</a:t>
            </a:r>
          </a:p>
        </p:txBody>
      </p:sp>
      <p:graphicFrame>
        <p:nvGraphicFramePr>
          <p:cNvPr id="4" name="Content Placeholder 3">
            <a:extLst>
              <a:ext uri="{FF2B5EF4-FFF2-40B4-BE49-F238E27FC236}">
                <a16:creationId xmlns:a16="http://schemas.microsoft.com/office/drawing/2014/main" id="{4EFF3A9D-CA33-45D8-9311-5B9BDA83839B}"/>
              </a:ext>
            </a:extLst>
          </p:cNvPr>
          <p:cNvGraphicFramePr>
            <a:graphicFrameLocks noGrp="1"/>
          </p:cNvGraphicFramePr>
          <p:nvPr>
            <p:ph idx="1"/>
            <p:extLst>
              <p:ext uri="{D42A27DB-BD31-4B8C-83A1-F6EECF244321}">
                <p14:modId xmlns:p14="http://schemas.microsoft.com/office/powerpoint/2010/main" val="92715653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02336" y="1488931"/>
          <a:ext cx="11253668" cy="47007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444218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D1E4A-0F76-C3E8-9950-9D5E58FE38E6}"/>
              </a:ext>
            </a:extLst>
          </p:cNvPr>
          <p:cNvSpPr>
            <a:spLocks noGrp="1"/>
          </p:cNvSpPr>
          <p:nvPr>
            <p:ph type="title"/>
          </p:nvPr>
        </p:nvSpPr>
        <p:spPr>
          <a:xfrm>
            <a:off x="426997" y="3018408"/>
            <a:ext cx="8961120" cy="3247475"/>
          </a:xfrm>
        </p:spPr>
        <p:txBody>
          <a:bodyPr anchor="b">
            <a:normAutofit/>
          </a:bodyPr>
          <a:lstStyle/>
          <a:p>
            <a:r>
              <a:rPr lang="en-US"/>
              <a:t>Livrables attendus</a:t>
            </a:r>
          </a:p>
        </p:txBody>
      </p:sp>
    </p:spTree>
    <p:extLst>
      <p:ext uri="{BB962C8B-B14F-4D97-AF65-F5344CB8AC3E}">
        <p14:creationId xmlns:p14="http://schemas.microsoft.com/office/powerpoint/2010/main" val="22880988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1C698-4D3D-AB2E-2FB1-7DA4B67A4E48}"/>
              </a:ext>
            </a:extLst>
          </p:cNvPr>
          <p:cNvSpPr>
            <a:spLocks noGrp="1"/>
          </p:cNvSpPr>
          <p:nvPr>
            <p:ph type="title"/>
          </p:nvPr>
        </p:nvSpPr>
        <p:spPr>
          <a:xfrm>
            <a:off x="4848555" y="512011"/>
            <a:ext cx="6792069" cy="1259920"/>
          </a:xfrm>
        </p:spPr>
        <p:txBody>
          <a:bodyPr anchor="b">
            <a:normAutofit/>
          </a:bodyPr>
          <a:lstStyle/>
          <a:p>
            <a:r>
              <a:rPr lang="en-US"/>
              <a:t>Éléments à fournir en fin de projet</a:t>
            </a:r>
          </a:p>
        </p:txBody>
      </p:sp>
      <p:pic>
        <p:nvPicPr>
          <p:cNvPr id="5" name="Content Placeholder 4" descr="Personne qui regarde un téléphone vide">
            <a:extLst>
              <a:ext uri="{FF2B5EF4-FFF2-40B4-BE49-F238E27FC236}">
                <a16:creationId xmlns:a16="http://schemas.microsoft.com/office/drawing/2014/main" id="{FC409F94-BAE2-4071-9B33-06B66432E7AF}"/>
              </a:ext>
            </a:extLst>
          </p:cNvPr>
          <p:cNvPicPr>
            <a:picLocks noGrp="1" noChangeAspect="1"/>
          </p:cNvPicPr>
          <p:nvPr>
            <p:ph type="pic" sz="quarter" idx="13"/>
          </p:nvPr>
        </p:nvPicPr>
        <p:blipFill>
          <a:blip r:embed="rId3"/>
          <a:srcRect l="42458" r="12749"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5A90399C-CC1E-088E-7F98-74F76B7AE25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spcBef>
                <a:spcPts val="2500"/>
              </a:spcBef>
              <a:buFont typeface="Arial" panose="020B0604020202020204" pitchFamily="34" charset="0"/>
              <a:buNone/>
            </a:pPr>
            <a:r>
              <a:rPr lang="en-US" b="1" dirty="0"/>
              <a:t>Prototype </a:t>
            </a:r>
            <a:r>
              <a:rPr lang="en-US" b="1" dirty="0" err="1"/>
              <a:t>d’application</a:t>
            </a:r>
            <a:r>
              <a:rPr lang="en-US" b="1" dirty="0"/>
              <a:t> mobile</a:t>
            </a:r>
          </a:p>
          <a:p>
            <a:pPr marL="0" lvl="1" indent="0">
              <a:buFont typeface="Arial" panose="020B0604020202020204" pitchFamily="34" charset="0"/>
              <a:buNone/>
            </a:pPr>
            <a:r>
              <a:rPr dirty="0"/>
              <a:t>Un prototype </a:t>
            </a:r>
            <a:r>
              <a:rPr dirty="0" err="1"/>
              <a:t>fonctionnel</a:t>
            </a:r>
            <a:r>
              <a:rPr dirty="0"/>
              <a:t> est indispensable pour </a:t>
            </a:r>
            <a:r>
              <a:rPr dirty="0" err="1"/>
              <a:t>illustrer</a:t>
            </a:r>
            <a:r>
              <a:rPr dirty="0"/>
              <a:t> les choix techniques et </a:t>
            </a:r>
            <a:r>
              <a:rPr dirty="0" err="1"/>
              <a:t>fonctionnels</a:t>
            </a:r>
            <a:r>
              <a:rPr dirty="0"/>
              <a:t> du </a:t>
            </a:r>
            <a:r>
              <a:rPr dirty="0" err="1"/>
              <a:t>projet</a:t>
            </a:r>
            <a:r>
              <a:rPr dirty="0"/>
              <a:t>.</a:t>
            </a:r>
            <a:endParaRPr lang="en-US" dirty="0"/>
          </a:p>
          <a:p>
            <a:pPr marL="0" indent="0">
              <a:spcBef>
                <a:spcPts val="2500"/>
              </a:spcBef>
              <a:buFont typeface="Arial" panose="020B0604020202020204" pitchFamily="34" charset="0"/>
              <a:buNone/>
            </a:pPr>
            <a:r>
              <a:rPr lang="en-US" b="1" dirty="0" err="1"/>
              <a:t>Schéma</a:t>
            </a:r>
            <a:r>
              <a:rPr lang="en-US" b="1" dirty="0"/>
              <a:t> </a:t>
            </a:r>
            <a:r>
              <a:rPr lang="en-US" b="1" dirty="0" err="1"/>
              <a:t>d’architecture</a:t>
            </a:r>
            <a:r>
              <a:rPr lang="en-US" b="1" dirty="0"/>
              <a:t> réseau</a:t>
            </a:r>
          </a:p>
          <a:p>
            <a:pPr marL="0" lvl="1" indent="0">
              <a:buFont typeface="Arial" panose="020B0604020202020204" pitchFamily="34" charset="0"/>
              <a:buNone/>
            </a:pPr>
            <a:r>
              <a:rPr dirty="0"/>
              <a:t>Un </a:t>
            </a:r>
            <a:r>
              <a:rPr dirty="0" err="1"/>
              <a:t>schéma</a:t>
            </a:r>
            <a:r>
              <a:rPr dirty="0"/>
              <a:t> </a:t>
            </a:r>
            <a:r>
              <a:rPr dirty="0" err="1"/>
              <a:t>clair</a:t>
            </a:r>
            <a:r>
              <a:rPr dirty="0"/>
              <a:t> et </a:t>
            </a:r>
            <a:r>
              <a:rPr dirty="0" err="1"/>
              <a:t>compréhensible</a:t>
            </a:r>
            <a:r>
              <a:rPr dirty="0"/>
              <a:t> de </a:t>
            </a:r>
            <a:r>
              <a:rPr dirty="0" err="1"/>
              <a:t>l’architecture</a:t>
            </a:r>
            <a:r>
              <a:rPr dirty="0"/>
              <a:t> réseau doit </a:t>
            </a:r>
            <a:r>
              <a:rPr dirty="0" err="1"/>
              <a:t>accompagner</a:t>
            </a:r>
            <a:r>
              <a:rPr dirty="0"/>
              <a:t> le prototype.</a:t>
            </a:r>
            <a:endParaRPr lang="en-US" dirty="0"/>
          </a:p>
          <a:p>
            <a:pPr marL="0" indent="0">
              <a:spcBef>
                <a:spcPts val="2500"/>
              </a:spcBef>
              <a:buFont typeface="Arial" panose="020B0604020202020204" pitchFamily="34" charset="0"/>
              <a:buNone/>
            </a:pPr>
            <a:r>
              <a:rPr lang="en-US" b="1" dirty="0"/>
              <a:t>Code source et documentation</a:t>
            </a:r>
          </a:p>
          <a:p>
            <a:pPr marL="0" lvl="1" indent="0">
              <a:buFont typeface="Arial" panose="020B0604020202020204" pitchFamily="34" charset="0"/>
              <a:buNone/>
            </a:pPr>
            <a:r>
              <a:rPr dirty="0"/>
              <a:t>Le code source </a:t>
            </a:r>
            <a:r>
              <a:rPr dirty="0" err="1"/>
              <a:t>hébergé</a:t>
            </a:r>
            <a:r>
              <a:rPr dirty="0"/>
              <a:t> sur Git et </a:t>
            </a:r>
            <a:r>
              <a:rPr dirty="0" err="1"/>
              <a:t>une</a:t>
            </a:r>
            <a:r>
              <a:rPr dirty="0"/>
              <a:t> documentation technique </a:t>
            </a:r>
            <a:r>
              <a:rPr dirty="0" err="1"/>
              <a:t>détaillée</a:t>
            </a:r>
            <a:r>
              <a:rPr dirty="0"/>
              <a:t> </a:t>
            </a:r>
            <a:r>
              <a:rPr dirty="0" err="1"/>
              <a:t>sont</a:t>
            </a:r>
            <a:r>
              <a:rPr dirty="0"/>
              <a:t> </a:t>
            </a:r>
            <a:r>
              <a:rPr dirty="0" err="1"/>
              <a:t>requis</a:t>
            </a:r>
            <a:r>
              <a:rPr dirty="0"/>
              <a:t>.</a:t>
            </a:r>
            <a:endParaRPr lang="en-US" dirty="0"/>
          </a:p>
          <a:p>
            <a:pPr marL="0" indent="0">
              <a:spcBef>
                <a:spcPts val="2500"/>
              </a:spcBef>
              <a:buFont typeface="Arial" panose="020B0604020202020204" pitchFamily="34" charset="0"/>
              <a:buNone/>
            </a:pPr>
            <a:r>
              <a:rPr lang="en-US" b="1" dirty="0" err="1"/>
              <a:t>Soutenance</a:t>
            </a:r>
            <a:r>
              <a:rPr lang="en-US" b="1" dirty="0"/>
              <a:t> </a:t>
            </a:r>
            <a:r>
              <a:rPr lang="en-US" b="1" dirty="0" err="1"/>
              <a:t>orale</a:t>
            </a:r>
            <a:endParaRPr lang="en-US" b="1" dirty="0"/>
          </a:p>
          <a:p>
            <a:pPr marL="0" lvl="1" indent="0">
              <a:buFont typeface="Arial" panose="020B0604020202020204" pitchFamily="34" charset="0"/>
              <a:buNone/>
            </a:pPr>
            <a:r>
              <a:rPr dirty="0"/>
              <a:t>Une </a:t>
            </a:r>
            <a:r>
              <a:rPr dirty="0" err="1"/>
              <a:t>présentation</a:t>
            </a:r>
            <a:r>
              <a:rPr dirty="0"/>
              <a:t> </a:t>
            </a:r>
            <a:r>
              <a:rPr dirty="0" err="1"/>
              <a:t>orale</a:t>
            </a:r>
            <a:r>
              <a:rPr dirty="0"/>
              <a:t> de </a:t>
            </a:r>
            <a:r>
              <a:rPr lang="fr-FR" dirty="0"/>
              <a:t>15</a:t>
            </a:r>
            <a:r>
              <a:rPr dirty="0"/>
              <a:t> minutes </a:t>
            </a:r>
            <a:r>
              <a:rPr dirty="0" err="1"/>
              <a:t>permet</a:t>
            </a:r>
            <a:r>
              <a:rPr dirty="0"/>
              <a:t> de </a:t>
            </a:r>
            <a:r>
              <a:rPr dirty="0" err="1"/>
              <a:t>valoriser</a:t>
            </a:r>
            <a:r>
              <a:rPr dirty="0"/>
              <a:t> le </a:t>
            </a:r>
            <a:r>
              <a:rPr dirty="0" err="1"/>
              <a:t>projet</a:t>
            </a:r>
            <a:r>
              <a:rPr dirty="0"/>
              <a:t> et </a:t>
            </a:r>
            <a:r>
              <a:rPr dirty="0" err="1"/>
              <a:t>démontrer</a:t>
            </a:r>
            <a:r>
              <a:rPr dirty="0"/>
              <a:t> la </a:t>
            </a:r>
            <a:r>
              <a:rPr dirty="0" err="1"/>
              <a:t>maîtrise</a:t>
            </a:r>
            <a:r>
              <a:rPr dirty="0"/>
              <a:t> technique.</a:t>
            </a:r>
            <a:endParaRPr lang="en-US" dirty="0"/>
          </a:p>
        </p:txBody>
      </p:sp>
    </p:spTree>
    <p:extLst>
      <p:ext uri="{BB962C8B-B14F-4D97-AF65-F5344CB8AC3E}">
        <p14:creationId xmlns:p14="http://schemas.microsoft.com/office/powerpoint/2010/main" val="26644523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3C444-7357-1D40-9583-E5018C110394}"/>
              </a:ext>
            </a:extLst>
          </p:cNvPr>
          <p:cNvSpPr>
            <a:spLocks noGrp="1"/>
          </p:cNvSpPr>
          <p:nvPr>
            <p:ph type="title"/>
          </p:nvPr>
        </p:nvSpPr>
        <p:spPr>
          <a:xfrm>
            <a:off x="426997" y="3018408"/>
            <a:ext cx="8961120" cy="3247475"/>
          </a:xfrm>
        </p:spPr>
        <p:txBody>
          <a:bodyPr anchor="b">
            <a:normAutofit/>
          </a:bodyPr>
          <a:lstStyle/>
          <a:p>
            <a:r>
              <a:rPr lang="en-US"/>
              <a:t>Critères d’évaluation</a:t>
            </a:r>
          </a:p>
        </p:txBody>
      </p:sp>
    </p:spTree>
    <p:extLst>
      <p:ext uri="{BB962C8B-B14F-4D97-AF65-F5344CB8AC3E}">
        <p14:creationId xmlns:p14="http://schemas.microsoft.com/office/powerpoint/2010/main" val="3822433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297B-80EE-4E12-4A42-A5C002D63B14}"/>
              </a:ext>
            </a:extLst>
          </p:cNvPr>
          <p:cNvSpPr>
            <a:spLocks noGrp="1"/>
          </p:cNvSpPr>
          <p:nvPr>
            <p:ph type="title"/>
          </p:nvPr>
        </p:nvSpPr>
        <p:spPr>
          <a:xfrm>
            <a:off x="4848555" y="512011"/>
            <a:ext cx="6792069" cy="1259920"/>
          </a:xfrm>
        </p:spPr>
        <p:txBody>
          <a:bodyPr anchor="b">
            <a:normAutofit/>
          </a:bodyPr>
          <a:lstStyle/>
          <a:p>
            <a:r>
              <a:rPr lang="en-US"/>
              <a:t>Modalités et axes d’évaluation</a:t>
            </a:r>
          </a:p>
        </p:txBody>
      </p:sp>
      <p:pic>
        <p:nvPicPr>
          <p:cNvPr id="5" name="Content Placeholder 4" descr="Ordinateur portable, smartphone et service informatique en fond d’écran numérique">
            <a:extLst>
              <a:ext uri="{FF2B5EF4-FFF2-40B4-BE49-F238E27FC236}">
                <a16:creationId xmlns:a16="http://schemas.microsoft.com/office/drawing/2014/main" id="{5F8CE896-B1F5-44F4-A351-10F69E535F59}"/>
              </a:ext>
            </a:extLst>
          </p:cNvPr>
          <p:cNvPicPr>
            <a:picLocks noGrp="1" noChangeAspect="1"/>
          </p:cNvPicPr>
          <p:nvPr>
            <p:ph type="pic" sz="quarter" idx="13"/>
          </p:nvPr>
        </p:nvPicPr>
        <p:blipFill>
          <a:blip r:embed="rId3"/>
          <a:srcRect l="13915" r="18979"/>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723381F7-E13D-1E65-1332-A35001D9135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Critères techniques</a:t>
            </a:r>
          </a:p>
          <a:p>
            <a:pPr marL="0" lvl="1" indent="0">
              <a:lnSpc>
                <a:spcPct val="110000"/>
              </a:lnSpc>
              <a:buFont typeface="Arial" panose="020B0604020202020204" pitchFamily="34" charset="0"/>
              <a:buNone/>
            </a:pPr>
            <a:r>
              <a:t>L’évaluation analyse la pertinence de la solution, la cohérence technologique, le développement, la structure du code, l’architecture et la sécurité.</a:t>
            </a:r>
            <a:endParaRPr lang="en-US"/>
          </a:p>
          <a:p>
            <a:pPr marL="0" indent="0">
              <a:lnSpc>
                <a:spcPct val="110000"/>
              </a:lnSpc>
              <a:spcBef>
                <a:spcPts val="2500"/>
              </a:spcBef>
              <a:buFont typeface="Arial" panose="020B0604020202020204" pitchFamily="34" charset="0"/>
              <a:buNone/>
            </a:pPr>
            <a:r>
              <a:rPr lang="en-US" b="1"/>
              <a:t>Fonctionnalités et expérience utilisateur</a:t>
            </a:r>
          </a:p>
          <a:p>
            <a:pPr marL="0" lvl="1" indent="0">
              <a:lnSpc>
                <a:spcPct val="110000"/>
              </a:lnSpc>
              <a:buFont typeface="Arial" panose="020B0604020202020204" pitchFamily="34" charset="0"/>
              <a:buNone/>
            </a:pPr>
            <a:r>
              <a:t>Les fonctionnalités réalisées et l’expérience utilisateur de l’application sont évaluées pour leur pertinence et leur fonctionnalité.</a:t>
            </a:r>
            <a:endParaRPr lang="en-US"/>
          </a:p>
          <a:p>
            <a:pPr marL="0" indent="0">
              <a:lnSpc>
                <a:spcPct val="110000"/>
              </a:lnSpc>
              <a:spcBef>
                <a:spcPts val="2500"/>
              </a:spcBef>
              <a:buFont typeface="Arial" panose="020B0604020202020204" pitchFamily="34" charset="0"/>
              <a:buNone/>
            </a:pPr>
            <a:r>
              <a:rPr lang="en-US" b="1"/>
              <a:t>Intégration IA et cloud</a:t>
            </a:r>
          </a:p>
          <a:p>
            <a:pPr marL="0" lvl="1" indent="0">
              <a:lnSpc>
                <a:spcPct val="110000"/>
              </a:lnSpc>
              <a:buFont typeface="Arial" panose="020B0604020202020204" pitchFamily="34" charset="0"/>
              <a:buNone/>
            </a:pPr>
            <a:r>
              <a:t>L’intégration de l’intelligence artificielle et du cloud dans le projet doit être pertinente, même à un niveau simple.</a:t>
            </a:r>
            <a:endParaRPr lang="en-US"/>
          </a:p>
          <a:p>
            <a:pPr marL="0" indent="0">
              <a:lnSpc>
                <a:spcPct val="110000"/>
              </a:lnSpc>
              <a:spcBef>
                <a:spcPts val="2500"/>
              </a:spcBef>
              <a:buFont typeface="Arial" panose="020B0604020202020204" pitchFamily="34" charset="0"/>
              <a:buNone/>
            </a:pPr>
            <a:r>
              <a:rPr lang="en-US" b="1"/>
              <a:t>Communication et travail en équipe</a:t>
            </a:r>
          </a:p>
          <a:p>
            <a:pPr marL="0" lvl="1" indent="0">
              <a:lnSpc>
                <a:spcPct val="110000"/>
              </a:lnSpc>
              <a:buFont typeface="Arial" panose="020B0604020202020204" pitchFamily="34" charset="0"/>
              <a:buNone/>
            </a:pPr>
            <a:r>
              <a:t>La qualité du rapport écrit, la soutenance orale et la capacité de travail en équipe sont des aspects clés de l’évaluation.</a:t>
            </a:r>
            <a:endParaRPr lang="en-US"/>
          </a:p>
        </p:txBody>
      </p:sp>
    </p:spTree>
    <p:extLst>
      <p:ext uri="{BB962C8B-B14F-4D97-AF65-F5344CB8AC3E}">
        <p14:creationId xmlns:p14="http://schemas.microsoft.com/office/powerpoint/2010/main" val="1466858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Lig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03323DF962BCD4AA0FF0FCCB79DEE89" ma:contentTypeVersion="12" ma:contentTypeDescription="Crée un document." ma:contentTypeScope="" ma:versionID="91945ad4f1516f5141ec5578129336bc">
  <xsd:schema xmlns:xsd="http://www.w3.org/2001/XMLSchema" xmlns:xs="http://www.w3.org/2001/XMLSchema" xmlns:p="http://schemas.microsoft.com/office/2006/metadata/properties" xmlns:ns2="1a19214f-704d-47d3-b124-2d7a9cfcbfc6" targetNamespace="http://schemas.microsoft.com/office/2006/metadata/properties" ma:root="true" ma:fieldsID="2064547ea7f0d7d347a11fd74a25762d" ns2:_="">
    <xsd:import namespace="1a19214f-704d-47d3-b124-2d7a9cfcbf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19214f-704d-47d3-b124-2d7a9cfcbf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Balises d’images" ma:readOnly="false" ma:fieldId="{5cf76f15-5ced-4ddc-b409-7134ff3c332f}" ma:taxonomyMulti="true" ma:sspId="7168b66e-d3ba-4677-90b6-fb5053d511e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Type de contenu"/>
        <xsd:element ref="dc:title" minOccurs="0" maxOccurs="1" ma:index="3"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a19214f-704d-47d3-b124-2d7a9cfcbfc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6FD9058-0ED8-46EE-89FF-2B39A01B55AB}">
  <ds:schemaRefs>
    <ds:schemaRef ds:uri="http://schemas.microsoft.com/sharepoint/v3/contenttype/forms"/>
  </ds:schemaRefs>
</ds:datastoreItem>
</file>

<file path=customXml/itemProps2.xml><?xml version="1.0" encoding="utf-8"?>
<ds:datastoreItem xmlns:ds="http://schemas.openxmlformats.org/officeDocument/2006/customXml" ds:itemID="{3983CC0A-DED2-4B39-BC61-D9FCF7FB4C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19214f-704d-47d3-b124-2d7a9cfcbf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DCAD26-7363-425A-9D3D-E31593B76C6C}">
  <ds:schemaRefs>
    <ds:schemaRef ds:uri="http://purl.org/dc/elements/1.1/"/>
    <ds:schemaRef ds:uri="http://schemas.microsoft.com/office/2006/metadata/properties"/>
    <ds:schemaRef ds:uri="http://purl.org/dc/terms/"/>
    <ds:schemaRef ds:uri="1a19214f-704d-47d3-b124-2d7a9cfcbfc6"/>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TotalTime>
  <Words>4310</Words>
  <Application>Microsoft Office PowerPoint</Application>
  <PresentationFormat>Grand écran</PresentationFormat>
  <Paragraphs>134</Paragraphs>
  <Slides>21</Slides>
  <Notes>21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Arial</vt:lpstr>
      <vt:lpstr>Arial Nova Light</vt:lpstr>
      <vt:lpstr>Calibri</vt:lpstr>
      <vt:lpstr>Univers Condensed</vt:lpstr>
      <vt:lpstr>Lignes</vt:lpstr>
      <vt:lpstr>Lancement du projet d’études Bachelor 2 – IA &amp; Agriculture</vt:lpstr>
      <vt:lpstr>Présentation générale du projet d’études B2</vt:lpstr>
      <vt:lpstr>Lancement du projet d’études Bachelor 2</vt:lpstr>
      <vt:lpstr>Objectifs pédagogiques et professionnels</vt:lpstr>
      <vt:lpstr>Objectifs du projet</vt:lpstr>
      <vt:lpstr>Thématique IA &amp; Agriculture</vt:lpstr>
      <vt:lpstr>Comprendre les enjeux de l’IA dans le secteur agricole</vt:lpstr>
      <vt:lpstr>Exigences techniques globales</vt:lpstr>
      <vt:lpstr>Contraintes et attentes techniques</vt:lpstr>
      <vt:lpstr>Choix des technologies</vt:lpstr>
      <vt:lpstr>Technologies imposées et justification des choix</vt:lpstr>
      <vt:lpstr>Fonctionnalités attendues</vt:lpstr>
      <vt:lpstr>Modules fonctionnels de l’application</vt:lpstr>
      <vt:lpstr>Architecture technique</vt:lpstr>
      <vt:lpstr>Schéma et logique d’architecture</vt:lpstr>
      <vt:lpstr>Déploiement et infrastructure</vt:lpstr>
      <vt:lpstr>Mise en production sur le cloud</vt:lpstr>
      <vt:lpstr>Livrables attendus</vt:lpstr>
      <vt:lpstr>Éléments à fournir en fin de projet</vt:lpstr>
      <vt:lpstr>Critères d’évaluation</vt:lpstr>
      <vt:lpstr>Modalités et axes d’évaluation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patricia.gauthier@supdevinci.fr</dc:creator>
  <cp:lastModifiedBy>ANDONIMOUTTOU Marie-Sidonie</cp:lastModifiedBy>
  <cp:revision>4</cp:revision>
  <dcterms:modified xsi:type="dcterms:W3CDTF">2026-04-08T14:39:58Z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0x010100A03323DF962BCD4AA0FF0FCCB79DEE89</vt:lpwstr>
  </property>
  <property fmtid="{D5CDD505-2E9C-101B-9397-08002B2CF9AE}" pid="3" name="MediaServiceImageTags">
    <vt:lpwstr/>
  </property>
</Properties>
</file>